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DM Sans" pitchFamily="2" charset="0"/>
      <p:regular r:id="rId19"/>
      <p:bold r:id="rId20"/>
      <p:italic r:id="rId21"/>
      <p:boldItalic r:id="rId22"/>
    </p:embeddedFont>
    <p:embeddedFont>
      <p:font typeface="Open Sans Bold" panose="020B0604020202020204" charset="0"/>
      <p:regular r:id="rId23"/>
    </p:embeddedFont>
    <p:embeddedFont>
      <p:font typeface="Poppins" panose="00000500000000000000" pitchFamily="2" charset="0"/>
      <p:regular r:id="rId24"/>
      <p:bold r:id="rId25"/>
      <p:italic r:id="rId26"/>
      <p:boldItalic r:id="rId27"/>
    </p:embeddedFont>
    <p:embeddedFont>
      <p:font typeface="Poppins Bold" panose="00000800000000000000" charset="0"/>
      <p:regular r:id="rId28"/>
    </p:embeddedFont>
    <p:embeddedFont>
      <p:font typeface="Poppins Semi-Bold" panose="020B0604020202020204" charset="0"/>
      <p:regular r:id="rId29"/>
    </p:embeddedFont>
    <p:embeddedFont>
      <p:font typeface="TT Fors" panose="020B0604020202020204" charset="0"/>
      <p:regular r:id="rId30"/>
    </p:embeddedFont>
    <p:embeddedFont>
      <p:font typeface="TT Fors 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3" Type="http://schemas.openxmlformats.org/officeDocument/2006/relationships/image" Target="../media/image8.sv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image" Target="../media/image7.png"/><Relationship Id="rId16"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3.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 Id="rId14"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01622" y="-767350"/>
            <a:ext cx="22013892" cy="12354774"/>
          </a:xfrm>
          <a:custGeom>
            <a:avLst/>
            <a:gdLst/>
            <a:ahLst/>
            <a:cxnLst/>
            <a:rect l="l" t="t" r="r" b="b"/>
            <a:pathLst>
              <a:path w="22013892" h="12354774">
                <a:moveTo>
                  <a:pt x="0" y="0"/>
                </a:moveTo>
                <a:lnTo>
                  <a:pt x="22013891" y="0"/>
                </a:lnTo>
                <a:lnTo>
                  <a:pt x="22013891" y="12354775"/>
                </a:lnTo>
                <a:lnTo>
                  <a:pt x="0" y="12354775"/>
                </a:lnTo>
                <a:lnTo>
                  <a:pt x="0" y="0"/>
                </a:lnTo>
                <a:close/>
              </a:path>
            </a:pathLst>
          </a:custGeom>
          <a:blipFill>
            <a:blip r:embed="rId2"/>
            <a:stretch>
              <a:fillRect t="-9467" b="-9467"/>
            </a:stretch>
          </a:blipFill>
        </p:spPr>
      </p:sp>
      <p:grpSp>
        <p:nvGrpSpPr>
          <p:cNvPr id="3" name="Group 3"/>
          <p:cNvGrpSpPr/>
          <p:nvPr/>
        </p:nvGrpSpPr>
        <p:grpSpPr>
          <a:xfrm>
            <a:off x="-1793400" y="-712357"/>
            <a:ext cx="22453902" cy="11711713"/>
            <a:chOff x="0" y="0"/>
            <a:chExt cx="5913785" cy="3084566"/>
          </a:xfrm>
        </p:grpSpPr>
        <p:sp>
          <p:nvSpPr>
            <p:cNvPr id="4" name="Freeform 4"/>
            <p:cNvSpPr/>
            <p:nvPr/>
          </p:nvSpPr>
          <p:spPr>
            <a:xfrm>
              <a:off x="0" y="0"/>
              <a:ext cx="5913785" cy="3084567"/>
            </a:xfrm>
            <a:custGeom>
              <a:avLst/>
              <a:gdLst/>
              <a:ahLst/>
              <a:cxnLst/>
              <a:rect l="l" t="t" r="r" b="b"/>
              <a:pathLst>
                <a:path w="5913785" h="3084567">
                  <a:moveTo>
                    <a:pt x="0" y="0"/>
                  </a:moveTo>
                  <a:lnTo>
                    <a:pt x="5913785" y="0"/>
                  </a:lnTo>
                  <a:lnTo>
                    <a:pt x="5913785" y="3084567"/>
                  </a:lnTo>
                  <a:lnTo>
                    <a:pt x="0" y="3084567"/>
                  </a:lnTo>
                  <a:close/>
                </a:path>
              </a:pathLst>
            </a:custGeom>
            <a:solidFill>
              <a:srgbClr val="AAD7D4">
                <a:alpha val="28627"/>
              </a:srgbClr>
            </a:solidFill>
          </p:spPr>
        </p:sp>
        <p:sp>
          <p:nvSpPr>
            <p:cNvPr id="5" name="TextBox 5"/>
            <p:cNvSpPr txBox="1"/>
            <p:nvPr/>
          </p:nvSpPr>
          <p:spPr>
            <a:xfrm>
              <a:off x="0" y="-38100"/>
              <a:ext cx="5913785" cy="312266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807609" y="6001576"/>
            <a:ext cx="12672781" cy="1431188"/>
            <a:chOff x="0" y="0"/>
            <a:chExt cx="3337687" cy="376938"/>
          </a:xfrm>
        </p:grpSpPr>
        <p:sp>
          <p:nvSpPr>
            <p:cNvPr id="7" name="Freeform 7"/>
            <p:cNvSpPr/>
            <p:nvPr/>
          </p:nvSpPr>
          <p:spPr>
            <a:xfrm>
              <a:off x="0" y="0"/>
              <a:ext cx="3337687" cy="376938"/>
            </a:xfrm>
            <a:custGeom>
              <a:avLst/>
              <a:gdLst/>
              <a:ahLst/>
              <a:cxnLst/>
              <a:rect l="l" t="t" r="r" b="b"/>
              <a:pathLst>
                <a:path w="3337687" h="376938">
                  <a:moveTo>
                    <a:pt x="0" y="0"/>
                  </a:moveTo>
                  <a:lnTo>
                    <a:pt x="3337687" y="0"/>
                  </a:lnTo>
                  <a:lnTo>
                    <a:pt x="3337687" y="376938"/>
                  </a:lnTo>
                  <a:lnTo>
                    <a:pt x="0" y="376938"/>
                  </a:lnTo>
                  <a:close/>
                </a:path>
              </a:pathLst>
            </a:custGeom>
            <a:solidFill>
              <a:srgbClr val="AAD7D4"/>
            </a:solidFill>
            <a:ln w="28575" cap="sq">
              <a:solidFill>
                <a:srgbClr val="1C2120"/>
              </a:solidFill>
              <a:prstDash val="solid"/>
              <a:miter/>
            </a:ln>
          </p:spPr>
        </p:sp>
        <p:sp>
          <p:nvSpPr>
            <p:cNvPr id="8" name="TextBox 8"/>
            <p:cNvSpPr txBox="1"/>
            <p:nvPr/>
          </p:nvSpPr>
          <p:spPr>
            <a:xfrm>
              <a:off x="0" y="-57150"/>
              <a:ext cx="3337687" cy="434088"/>
            </a:xfrm>
            <a:prstGeom prst="rect">
              <a:avLst/>
            </a:prstGeom>
          </p:spPr>
          <p:txBody>
            <a:bodyPr lIns="50800" tIns="50800" rIns="50800" bIns="50800" rtlCol="0" anchor="ctr"/>
            <a:lstStyle/>
            <a:p>
              <a:pPr algn="ctr">
                <a:lnSpc>
                  <a:spcPts val="3919"/>
                </a:lnSpc>
              </a:pPr>
              <a:r>
                <a:rPr lang="en-US" sz="2799" b="1">
                  <a:solidFill>
                    <a:srgbClr val="000000"/>
                  </a:solidFill>
                  <a:latin typeface="Open Sans Bold"/>
                  <a:ea typeface="Open Sans Bold"/>
                  <a:cs typeface="Open Sans Bold"/>
                  <a:sym typeface="Open Sans Bold"/>
                </a:rPr>
                <a:t>CSA1605-DATA WAREHOUSING AND DATA MINING FOR IMAGE PROCESSING</a:t>
              </a:r>
            </a:p>
          </p:txBody>
        </p:sp>
      </p:grpSp>
      <p:sp>
        <p:nvSpPr>
          <p:cNvPr id="9" name="Freeform 9"/>
          <p:cNvSpPr/>
          <p:nvPr/>
        </p:nvSpPr>
        <p:spPr>
          <a:xfrm>
            <a:off x="3782921" y="516502"/>
            <a:ext cx="11301259" cy="1624556"/>
          </a:xfrm>
          <a:custGeom>
            <a:avLst/>
            <a:gdLst/>
            <a:ahLst/>
            <a:cxnLst/>
            <a:rect l="l" t="t" r="r" b="b"/>
            <a:pathLst>
              <a:path w="11301259" h="1624556">
                <a:moveTo>
                  <a:pt x="0" y="0"/>
                </a:moveTo>
                <a:lnTo>
                  <a:pt x="11301259" y="0"/>
                </a:lnTo>
                <a:lnTo>
                  <a:pt x="11301259" y="1624556"/>
                </a:lnTo>
                <a:lnTo>
                  <a:pt x="0" y="1624556"/>
                </a:lnTo>
                <a:lnTo>
                  <a:pt x="0" y="0"/>
                </a:lnTo>
                <a:close/>
              </a:path>
            </a:pathLst>
          </a:custGeom>
          <a:blipFill>
            <a:blip r:embed="rId3"/>
            <a:stretch>
              <a:fillRect/>
            </a:stretch>
          </a:blipFill>
        </p:spPr>
      </p:sp>
      <p:sp>
        <p:nvSpPr>
          <p:cNvPr id="10" name="Freeform 10"/>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4"/>
            <a:stretch>
              <a:fillRect/>
            </a:stretch>
          </a:blipFill>
        </p:spPr>
      </p:sp>
      <p:sp>
        <p:nvSpPr>
          <p:cNvPr id="11" name="Freeform 11"/>
          <p:cNvSpPr/>
          <p:nvPr/>
        </p:nvSpPr>
        <p:spPr>
          <a:xfrm>
            <a:off x="16312905" y="448563"/>
            <a:ext cx="1670025" cy="2141058"/>
          </a:xfrm>
          <a:custGeom>
            <a:avLst/>
            <a:gdLst/>
            <a:ahLst/>
            <a:cxnLst/>
            <a:rect l="l" t="t" r="r" b="b"/>
            <a:pathLst>
              <a:path w="1670025" h="2141058">
                <a:moveTo>
                  <a:pt x="0" y="0"/>
                </a:moveTo>
                <a:lnTo>
                  <a:pt x="1670025" y="0"/>
                </a:lnTo>
                <a:lnTo>
                  <a:pt x="1670025" y="2141058"/>
                </a:lnTo>
                <a:lnTo>
                  <a:pt x="0" y="2141058"/>
                </a:lnTo>
                <a:lnTo>
                  <a:pt x="0" y="0"/>
                </a:lnTo>
                <a:close/>
              </a:path>
            </a:pathLst>
          </a:custGeom>
          <a:blipFill>
            <a:blip r:embed="rId5"/>
            <a:stretch>
              <a:fillRect/>
            </a:stretch>
          </a:blipFill>
        </p:spPr>
      </p:sp>
      <p:sp>
        <p:nvSpPr>
          <p:cNvPr id="12" name="TextBox 12"/>
          <p:cNvSpPr txBox="1"/>
          <p:nvPr/>
        </p:nvSpPr>
        <p:spPr>
          <a:xfrm>
            <a:off x="1028700" y="2369658"/>
            <a:ext cx="15893337" cy="3040380"/>
          </a:xfrm>
          <a:prstGeom prst="rect">
            <a:avLst/>
          </a:prstGeom>
        </p:spPr>
        <p:txBody>
          <a:bodyPr lIns="0" tIns="0" rIns="0" bIns="0" rtlCol="0" anchor="t">
            <a:spAutoFit/>
          </a:bodyPr>
          <a:lstStyle/>
          <a:p>
            <a:pPr algn="ctr">
              <a:lnSpc>
                <a:spcPts val="7559"/>
              </a:lnSpc>
            </a:pPr>
            <a:r>
              <a:rPr lang="en-US" sz="9000" b="1" spc="-485" dirty="0">
                <a:solidFill>
                  <a:srgbClr val="1C2120"/>
                </a:solidFill>
                <a:latin typeface="Poppins Semi-Bold"/>
                <a:ea typeface="Poppins Semi-Bold"/>
                <a:cs typeface="Poppins Semi-Bold"/>
                <a:sym typeface="Poppins Semi-Bold"/>
              </a:rPr>
              <a:t>INTELLIGENT EMAIL SPAM CLASSIFICATION USING TEXT MINING TECHNIQUES</a:t>
            </a:r>
          </a:p>
        </p:txBody>
      </p:sp>
      <p:sp>
        <p:nvSpPr>
          <p:cNvPr id="13" name="TextBox 13"/>
          <p:cNvSpPr txBox="1"/>
          <p:nvPr/>
        </p:nvSpPr>
        <p:spPr>
          <a:xfrm>
            <a:off x="10641335" y="8061414"/>
            <a:ext cx="6617965" cy="1781124"/>
          </a:xfrm>
          <a:prstGeom prst="rect">
            <a:avLst/>
          </a:prstGeom>
        </p:spPr>
        <p:txBody>
          <a:bodyPr lIns="0" tIns="0" rIns="0" bIns="0" rtlCol="0" anchor="t">
            <a:spAutoFit/>
          </a:bodyPr>
          <a:lstStyle/>
          <a:p>
            <a:pPr algn="ctr">
              <a:lnSpc>
                <a:spcPts val="3445"/>
              </a:lnSpc>
            </a:pPr>
            <a:r>
              <a:rPr lang="en-US" sz="3445" spc="-68">
                <a:solidFill>
                  <a:srgbClr val="1C2120"/>
                </a:solidFill>
                <a:latin typeface="Poppins"/>
                <a:ea typeface="Poppins"/>
                <a:cs typeface="Poppins"/>
                <a:sym typeface="Poppins"/>
              </a:rPr>
              <a:t>PRESENTED BY </a:t>
            </a:r>
          </a:p>
          <a:p>
            <a:pPr algn="ctr">
              <a:lnSpc>
                <a:spcPts val="3445"/>
              </a:lnSpc>
            </a:pPr>
            <a:r>
              <a:rPr lang="en-US" sz="3445" spc="-68">
                <a:solidFill>
                  <a:srgbClr val="1C2120"/>
                </a:solidFill>
                <a:latin typeface="Poppins"/>
                <a:ea typeface="Poppins"/>
                <a:cs typeface="Poppins"/>
                <a:sym typeface="Poppins"/>
              </a:rPr>
              <a:t>B RAMYA SRI</a:t>
            </a:r>
          </a:p>
          <a:p>
            <a:pPr algn="ctr">
              <a:lnSpc>
                <a:spcPts val="3445"/>
              </a:lnSpc>
            </a:pPr>
            <a:r>
              <a:rPr lang="en-US" sz="3445" spc="-68">
                <a:solidFill>
                  <a:srgbClr val="1C2120"/>
                </a:solidFill>
                <a:latin typeface="Poppins"/>
                <a:ea typeface="Poppins"/>
                <a:cs typeface="Poppins"/>
                <a:sym typeface="Poppins"/>
              </a:rPr>
              <a:t>T S SAI LAHARI </a:t>
            </a:r>
          </a:p>
          <a:p>
            <a:pPr algn="ctr">
              <a:lnSpc>
                <a:spcPts val="3445"/>
              </a:lnSpc>
            </a:pPr>
            <a:r>
              <a:rPr lang="en-US" sz="3445" spc="-68">
                <a:solidFill>
                  <a:srgbClr val="1C2120"/>
                </a:solidFill>
                <a:latin typeface="Poppins"/>
                <a:ea typeface="Poppins"/>
                <a:cs typeface="Poppins"/>
                <a:sym typeface="Poppins"/>
              </a:rPr>
              <a:t>VENKATA HARISH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9388" y="0"/>
            <a:ext cx="7097803" cy="11057957"/>
          </a:xfrm>
          <a:custGeom>
            <a:avLst/>
            <a:gdLst/>
            <a:ahLst/>
            <a:cxnLst/>
            <a:rect l="l" t="t" r="r" b="b"/>
            <a:pathLst>
              <a:path w="7097803" h="11057957">
                <a:moveTo>
                  <a:pt x="0" y="0"/>
                </a:moveTo>
                <a:lnTo>
                  <a:pt x="7097803" y="0"/>
                </a:lnTo>
                <a:lnTo>
                  <a:pt x="7097803" y="11057957"/>
                </a:lnTo>
                <a:lnTo>
                  <a:pt x="0" y="11057957"/>
                </a:lnTo>
                <a:lnTo>
                  <a:pt x="0" y="0"/>
                </a:lnTo>
                <a:close/>
              </a:path>
            </a:pathLst>
          </a:custGeom>
          <a:blipFill>
            <a:blip r:embed="rId2"/>
            <a:stretch>
              <a:fillRect l="-131569" r="-2267"/>
            </a:stretch>
          </a:blipFill>
        </p:spPr>
      </p:sp>
      <p:grpSp>
        <p:nvGrpSpPr>
          <p:cNvPr id="3" name="Group 3"/>
          <p:cNvGrpSpPr/>
          <p:nvPr/>
        </p:nvGrpSpPr>
        <p:grpSpPr>
          <a:xfrm>
            <a:off x="-615950" y="0"/>
            <a:ext cx="7454365" cy="10601584"/>
            <a:chOff x="0" y="0"/>
            <a:chExt cx="1963290" cy="2792187"/>
          </a:xfrm>
        </p:grpSpPr>
        <p:sp>
          <p:nvSpPr>
            <p:cNvPr id="4" name="Freeform 4"/>
            <p:cNvSpPr/>
            <p:nvPr/>
          </p:nvSpPr>
          <p:spPr>
            <a:xfrm>
              <a:off x="0" y="0"/>
              <a:ext cx="1963290" cy="2792187"/>
            </a:xfrm>
            <a:custGeom>
              <a:avLst/>
              <a:gdLst/>
              <a:ahLst/>
              <a:cxnLst/>
              <a:rect l="l" t="t" r="r" b="b"/>
              <a:pathLst>
                <a:path w="1963290" h="2792187">
                  <a:moveTo>
                    <a:pt x="0" y="0"/>
                  </a:moveTo>
                  <a:lnTo>
                    <a:pt x="1963290" y="0"/>
                  </a:lnTo>
                  <a:lnTo>
                    <a:pt x="1963290" y="2792187"/>
                  </a:lnTo>
                  <a:lnTo>
                    <a:pt x="0" y="2792187"/>
                  </a:lnTo>
                  <a:close/>
                </a:path>
              </a:pathLst>
            </a:custGeom>
            <a:solidFill>
              <a:srgbClr val="AAD7D4">
                <a:alpha val="55686"/>
              </a:srgbClr>
            </a:solidFill>
          </p:spPr>
        </p:sp>
        <p:sp>
          <p:nvSpPr>
            <p:cNvPr id="5" name="TextBox 5"/>
            <p:cNvSpPr txBox="1"/>
            <p:nvPr/>
          </p:nvSpPr>
          <p:spPr>
            <a:xfrm>
              <a:off x="0" y="-38100"/>
              <a:ext cx="1963290" cy="2830287"/>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8036620" y="1949730"/>
            <a:ext cx="8011990" cy="1148033"/>
          </a:xfrm>
          <a:prstGeom prst="rect">
            <a:avLst/>
          </a:prstGeom>
        </p:spPr>
        <p:txBody>
          <a:bodyPr lIns="0" tIns="0" rIns="0" bIns="0" rtlCol="0" anchor="t">
            <a:spAutoFit/>
          </a:bodyPr>
          <a:lstStyle/>
          <a:p>
            <a:pPr algn="l">
              <a:lnSpc>
                <a:spcPts val="7935"/>
              </a:lnSpc>
            </a:pPr>
            <a:r>
              <a:rPr lang="en-US" sz="8180" b="1">
                <a:solidFill>
                  <a:srgbClr val="1C2120"/>
                </a:solidFill>
                <a:latin typeface="Poppins Bold"/>
                <a:ea typeface="Poppins Bold"/>
                <a:cs typeface="Poppins Bold"/>
                <a:sym typeface="Poppins Bold"/>
              </a:rPr>
              <a:t>ABSTRACT</a:t>
            </a:r>
          </a:p>
        </p:txBody>
      </p:sp>
      <p:sp>
        <p:nvSpPr>
          <p:cNvPr id="7" name="TextBox 7"/>
          <p:cNvSpPr txBox="1"/>
          <p:nvPr/>
        </p:nvSpPr>
        <p:spPr>
          <a:xfrm>
            <a:off x="7045568" y="3683695"/>
            <a:ext cx="10959294" cy="5751629"/>
          </a:xfrm>
          <a:prstGeom prst="rect">
            <a:avLst/>
          </a:prstGeom>
        </p:spPr>
        <p:txBody>
          <a:bodyPr lIns="0" tIns="0" rIns="0" bIns="0" rtlCol="0" anchor="t">
            <a:spAutoFit/>
          </a:bodyPr>
          <a:lstStyle/>
          <a:p>
            <a:pPr marL="664372" lvl="1" indent="-332186" algn="just">
              <a:lnSpc>
                <a:spcPts val="4154"/>
              </a:lnSpc>
              <a:buFont typeface="Arial"/>
              <a:buChar char="•"/>
            </a:pPr>
            <a:r>
              <a:rPr lang="en-US" sz="3077" spc="184">
                <a:solidFill>
                  <a:srgbClr val="000000"/>
                </a:solidFill>
                <a:latin typeface="DM Sans"/>
                <a:ea typeface="DM Sans"/>
                <a:cs typeface="DM Sans"/>
                <a:sym typeface="DM Sans"/>
              </a:rPr>
              <a:t>Th</a:t>
            </a:r>
            <a:r>
              <a:rPr lang="en-US" sz="3077" u="none" spc="184">
                <a:solidFill>
                  <a:srgbClr val="000000"/>
                </a:solidFill>
                <a:latin typeface="DM Sans"/>
                <a:ea typeface="DM Sans"/>
                <a:cs typeface="DM Sans"/>
                <a:sym typeface="DM Sans"/>
              </a:rPr>
              <a:t>is project presents an intelligent approach for email spam detection using text mining and machine learning techniques.</a:t>
            </a:r>
          </a:p>
          <a:p>
            <a:pPr marL="664372" lvl="1" indent="-332186" algn="just">
              <a:lnSpc>
                <a:spcPts val="4154"/>
              </a:lnSpc>
              <a:buFont typeface="Arial"/>
              <a:buChar char="•"/>
            </a:pPr>
            <a:r>
              <a:rPr lang="en-US" sz="3077" u="none" spc="184">
                <a:solidFill>
                  <a:srgbClr val="000000"/>
                </a:solidFill>
                <a:latin typeface="DM Sans"/>
                <a:ea typeface="DM Sans"/>
                <a:cs typeface="DM Sans"/>
                <a:sym typeface="DM Sans"/>
              </a:rPr>
              <a:t>The system preprocesses raw email text using tokenization, stemming, and TF-IDF, and then trains classification models like Naïve Bayes and SVM in R.</a:t>
            </a:r>
          </a:p>
          <a:p>
            <a:pPr marL="664372" lvl="1" indent="-332186" algn="just">
              <a:lnSpc>
                <a:spcPts val="4154"/>
              </a:lnSpc>
              <a:buFont typeface="Arial"/>
              <a:buChar char="•"/>
            </a:pPr>
            <a:r>
              <a:rPr lang="en-US" sz="3077" u="none" spc="184">
                <a:solidFill>
                  <a:srgbClr val="000000"/>
                </a:solidFill>
                <a:latin typeface="DM Sans"/>
                <a:ea typeface="DM Sans"/>
                <a:cs typeface="DM Sans"/>
                <a:sym typeface="DM Sans"/>
              </a:rPr>
              <a:t> Model performance is evaluated using accuracy, precision, recall, and F1-score.</a:t>
            </a:r>
          </a:p>
          <a:p>
            <a:pPr marL="664372" lvl="1" indent="-332186" algn="just">
              <a:lnSpc>
                <a:spcPts val="4154"/>
              </a:lnSpc>
              <a:buFont typeface="Arial"/>
              <a:buChar char="•"/>
            </a:pPr>
            <a:r>
              <a:rPr lang="en-US" sz="3077" u="none" spc="184">
                <a:solidFill>
                  <a:srgbClr val="000000"/>
                </a:solidFill>
                <a:latin typeface="DM Sans"/>
                <a:ea typeface="DM Sans"/>
                <a:cs typeface="DM Sans"/>
                <a:sym typeface="DM Sans"/>
              </a:rPr>
              <a:t> The goal is to develop a reliable, scalable spam classifier suitable for real-world applications.</a:t>
            </a:r>
          </a:p>
        </p:txBody>
      </p:sp>
      <p:sp>
        <p:nvSpPr>
          <p:cNvPr id="8" name="Freeform 8"/>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3"/>
            <a:stretch>
              <a:fillRect/>
            </a:stretch>
          </a:blipFill>
        </p:spPr>
      </p:sp>
      <p:sp>
        <p:nvSpPr>
          <p:cNvPr id="9" name="Freeform 9"/>
          <p:cNvSpPr/>
          <p:nvPr/>
        </p:nvSpPr>
        <p:spPr>
          <a:xfrm>
            <a:off x="16334837" y="295617"/>
            <a:ext cx="1670025" cy="2141058"/>
          </a:xfrm>
          <a:custGeom>
            <a:avLst/>
            <a:gdLst/>
            <a:ahLst/>
            <a:cxnLst/>
            <a:rect l="l" t="t" r="r" b="b"/>
            <a:pathLst>
              <a:path w="1670025" h="2141058">
                <a:moveTo>
                  <a:pt x="0" y="0"/>
                </a:moveTo>
                <a:lnTo>
                  <a:pt x="1670025" y="0"/>
                </a:lnTo>
                <a:lnTo>
                  <a:pt x="1670025" y="2141057"/>
                </a:lnTo>
                <a:lnTo>
                  <a:pt x="0" y="2141057"/>
                </a:lnTo>
                <a:lnTo>
                  <a:pt x="0" y="0"/>
                </a:lnTo>
                <a:close/>
              </a:path>
            </a:pathLst>
          </a:custGeom>
          <a:blipFill>
            <a:blip r:embed="rId4"/>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83134" y="2319003"/>
            <a:ext cx="6830714" cy="1183648"/>
            <a:chOff x="0" y="0"/>
            <a:chExt cx="2286638" cy="396236"/>
          </a:xfrm>
        </p:grpSpPr>
        <p:sp>
          <p:nvSpPr>
            <p:cNvPr id="3" name="Freeform 3"/>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4" name="TextBox 4"/>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sp>
        <p:nvSpPr>
          <p:cNvPr id="5" name="TextBox 5"/>
          <p:cNvSpPr txBox="1"/>
          <p:nvPr/>
        </p:nvSpPr>
        <p:spPr>
          <a:xfrm>
            <a:off x="1181100" y="4463374"/>
            <a:ext cx="8537476" cy="1322151"/>
          </a:xfrm>
          <a:prstGeom prst="rect">
            <a:avLst/>
          </a:prstGeom>
        </p:spPr>
        <p:txBody>
          <a:bodyPr lIns="0" tIns="0" rIns="0" bIns="0" rtlCol="0" anchor="t">
            <a:spAutoFit/>
          </a:bodyPr>
          <a:lstStyle/>
          <a:p>
            <a:pPr algn="l">
              <a:lnSpc>
                <a:spcPts val="9658"/>
              </a:lnSpc>
            </a:pPr>
            <a:r>
              <a:rPr lang="en-US" sz="8472" b="1">
                <a:solidFill>
                  <a:srgbClr val="1C2120"/>
                </a:solidFill>
                <a:latin typeface="Poppins Bold"/>
                <a:ea typeface="Poppins Bold"/>
                <a:cs typeface="Poppins Bold"/>
                <a:sym typeface="Poppins Bold"/>
              </a:rPr>
              <a:t>OBJECTIVES</a:t>
            </a:r>
          </a:p>
        </p:txBody>
      </p:sp>
      <p:sp>
        <p:nvSpPr>
          <p:cNvPr id="6" name="TextBox 6"/>
          <p:cNvSpPr txBox="1"/>
          <p:nvPr/>
        </p:nvSpPr>
        <p:spPr>
          <a:xfrm>
            <a:off x="10469832" y="2575821"/>
            <a:ext cx="6057319" cy="755381"/>
          </a:xfrm>
          <a:prstGeom prst="rect">
            <a:avLst/>
          </a:prstGeom>
        </p:spPr>
        <p:txBody>
          <a:bodyPr lIns="0" tIns="0" rIns="0" bIns="0" rtlCol="0" anchor="t">
            <a:spAutoFit/>
          </a:bodyPr>
          <a:lstStyle/>
          <a:p>
            <a:pPr marL="0" lvl="0" indent="0" algn="just">
              <a:lnSpc>
                <a:spcPts val="3015"/>
              </a:lnSpc>
              <a:spcBef>
                <a:spcPct val="0"/>
              </a:spcBef>
            </a:pPr>
            <a:r>
              <a:rPr lang="en-US" sz="2233" spc="35">
                <a:solidFill>
                  <a:srgbClr val="1C2120"/>
                </a:solidFill>
                <a:latin typeface="DM Sans"/>
                <a:ea typeface="DM Sans"/>
                <a:cs typeface="DM Sans"/>
                <a:sym typeface="DM Sans"/>
              </a:rPr>
              <a:t>T</a:t>
            </a:r>
            <a:r>
              <a:rPr lang="en-US" sz="2233" u="none" spc="35">
                <a:solidFill>
                  <a:srgbClr val="1C2120"/>
                </a:solidFill>
                <a:latin typeface="DM Sans"/>
                <a:ea typeface="DM Sans"/>
                <a:cs typeface="DM Sans"/>
                <a:sym typeface="DM Sans"/>
              </a:rPr>
              <a:t>o preprocess and clean email text using text mining techniques.</a:t>
            </a:r>
          </a:p>
        </p:txBody>
      </p:sp>
      <p:grpSp>
        <p:nvGrpSpPr>
          <p:cNvPr id="7" name="Group 7"/>
          <p:cNvGrpSpPr/>
          <p:nvPr/>
        </p:nvGrpSpPr>
        <p:grpSpPr>
          <a:xfrm>
            <a:off x="10083134" y="3731252"/>
            <a:ext cx="6830714" cy="1183648"/>
            <a:chOff x="0" y="0"/>
            <a:chExt cx="2286638" cy="396236"/>
          </a:xfrm>
        </p:grpSpPr>
        <p:sp>
          <p:nvSpPr>
            <p:cNvPr id="8" name="Freeform 8"/>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9" name="TextBox 9"/>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grpSp>
        <p:nvGrpSpPr>
          <p:cNvPr id="10" name="Group 10"/>
          <p:cNvGrpSpPr/>
          <p:nvPr/>
        </p:nvGrpSpPr>
        <p:grpSpPr>
          <a:xfrm>
            <a:off x="10083134" y="8254320"/>
            <a:ext cx="6830714" cy="1183648"/>
            <a:chOff x="0" y="0"/>
            <a:chExt cx="2286638" cy="396236"/>
          </a:xfrm>
        </p:grpSpPr>
        <p:sp>
          <p:nvSpPr>
            <p:cNvPr id="11" name="Freeform 11"/>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2" name="TextBox 12"/>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grpSp>
        <p:nvGrpSpPr>
          <p:cNvPr id="13" name="Group 13"/>
          <p:cNvGrpSpPr/>
          <p:nvPr/>
        </p:nvGrpSpPr>
        <p:grpSpPr>
          <a:xfrm>
            <a:off x="10110578" y="6553706"/>
            <a:ext cx="6830714" cy="1183648"/>
            <a:chOff x="0" y="0"/>
            <a:chExt cx="2286638" cy="396236"/>
          </a:xfrm>
        </p:grpSpPr>
        <p:sp>
          <p:nvSpPr>
            <p:cNvPr id="14" name="Freeform 14"/>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5" name="TextBox 15"/>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grpSp>
        <p:nvGrpSpPr>
          <p:cNvPr id="16" name="Group 16"/>
          <p:cNvGrpSpPr/>
          <p:nvPr/>
        </p:nvGrpSpPr>
        <p:grpSpPr>
          <a:xfrm>
            <a:off x="10110578" y="5143500"/>
            <a:ext cx="6830714" cy="1183648"/>
            <a:chOff x="0" y="0"/>
            <a:chExt cx="2286638" cy="396236"/>
          </a:xfrm>
        </p:grpSpPr>
        <p:sp>
          <p:nvSpPr>
            <p:cNvPr id="17" name="Freeform 17"/>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8" name="TextBox 18"/>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sp>
        <p:nvSpPr>
          <p:cNvPr id="19" name="TextBox 19"/>
          <p:cNvSpPr txBox="1"/>
          <p:nvPr/>
        </p:nvSpPr>
        <p:spPr>
          <a:xfrm>
            <a:off x="10277518" y="3990400"/>
            <a:ext cx="6057319" cy="755381"/>
          </a:xfrm>
          <a:prstGeom prst="rect">
            <a:avLst/>
          </a:prstGeom>
        </p:spPr>
        <p:txBody>
          <a:bodyPr lIns="0" tIns="0" rIns="0" bIns="0" rtlCol="0" anchor="t">
            <a:spAutoFit/>
          </a:bodyPr>
          <a:lstStyle/>
          <a:p>
            <a:pPr marL="0" lvl="0" indent="0" algn="just">
              <a:lnSpc>
                <a:spcPts val="3015"/>
              </a:lnSpc>
              <a:spcBef>
                <a:spcPct val="0"/>
              </a:spcBef>
            </a:pPr>
            <a:r>
              <a:rPr lang="en-US" sz="2233" spc="35">
                <a:solidFill>
                  <a:srgbClr val="1C2120"/>
                </a:solidFill>
                <a:latin typeface="DM Sans"/>
                <a:ea typeface="DM Sans"/>
                <a:cs typeface="DM Sans"/>
                <a:sym typeface="DM Sans"/>
              </a:rPr>
              <a:t>T</a:t>
            </a:r>
            <a:r>
              <a:rPr lang="en-US" sz="2233" u="none" spc="35">
                <a:solidFill>
                  <a:srgbClr val="1C2120"/>
                </a:solidFill>
                <a:latin typeface="DM Sans"/>
                <a:ea typeface="DM Sans"/>
                <a:cs typeface="DM Sans"/>
                <a:sym typeface="DM Sans"/>
              </a:rPr>
              <a:t>o apply TF-IDF, stemming, tokenization for feature extraction.</a:t>
            </a:r>
          </a:p>
        </p:txBody>
      </p:sp>
      <p:sp>
        <p:nvSpPr>
          <p:cNvPr id="20" name="TextBox 20"/>
          <p:cNvSpPr txBox="1"/>
          <p:nvPr/>
        </p:nvSpPr>
        <p:spPr>
          <a:xfrm>
            <a:off x="10497275" y="5274451"/>
            <a:ext cx="6057319" cy="755381"/>
          </a:xfrm>
          <a:prstGeom prst="rect">
            <a:avLst/>
          </a:prstGeom>
        </p:spPr>
        <p:txBody>
          <a:bodyPr lIns="0" tIns="0" rIns="0" bIns="0" rtlCol="0" anchor="t">
            <a:spAutoFit/>
          </a:bodyPr>
          <a:lstStyle/>
          <a:p>
            <a:pPr marL="0" lvl="0" indent="0" algn="just">
              <a:lnSpc>
                <a:spcPts val="3015"/>
              </a:lnSpc>
              <a:spcBef>
                <a:spcPct val="0"/>
              </a:spcBef>
            </a:pPr>
            <a:r>
              <a:rPr lang="en-US" sz="2233" spc="35">
                <a:solidFill>
                  <a:srgbClr val="1C2120"/>
                </a:solidFill>
                <a:latin typeface="DM Sans"/>
                <a:ea typeface="DM Sans"/>
                <a:cs typeface="DM Sans"/>
                <a:sym typeface="DM Sans"/>
              </a:rPr>
              <a:t>T</a:t>
            </a:r>
            <a:r>
              <a:rPr lang="en-US" sz="2233" u="none" spc="35">
                <a:solidFill>
                  <a:srgbClr val="1C2120"/>
                </a:solidFill>
                <a:latin typeface="DM Sans"/>
                <a:ea typeface="DM Sans"/>
                <a:cs typeface="DM Sans"/>
                <a:sym typeface="DM Sans"/>
              </a:rPr>
              <a:t>o develop spam classification models using Naïve Bayes &amp; SVM in R.</a:t>
            </a:r>
          </a:p>
        </p:txBody>
      </p:sp>
      <p:sp>
        <p:nvSpPr>
          <p:cNvPr id="21" name="TextBox 21"/>
          <p:cNvSpPr txBox="1"/>
          <p:nvPr/>
        </p:nvSpPr>
        <p:spPr>
          <a:xfrm>
            <a:off x="10497275" y="6762070"/>
            <a:ext cx="6057319" cy="755381"/>
          </a:xfrm>
          <a:prstGeom prst="rect">
            <a:avLst/>
          </a:prstGeom>
        </p:spPr>
        <p:txBody>
          <a:bodyPr lIns="0" tIns="0" rIns="0" bIns="0" rtlCol="0" anchor="t">
            <a:spAutoFit/>
          </a:bodyPr>
          <a:lstStyle/>
          <a:p>
            <a:pPr marL="0" lvl="0" indent="0" algn="just">
              <a:lnSpc>
                <a:spcPts val="3015"/>
              </a:lnSpc>
              <a:spcBef>
                <a:spcPct val="0"/>
              </a:spcBef>
            </a:pPr>
            <a:r>
              <a:rPr lang="en-US" sz="2233" spc="35">
                <a:solidFill>
                  <a:srgbClr val="1C2120"/>
                </a:solidFill>
                <a:latin typeface="DM Sans"/>
                <a:ea typeface="DM Sans"/>
                <a:cs typeface="DM Sans"/>
                <a:sym typeface="DM Sans"/>
              </a:rPr>
              <a:t>T</a:t>
            </a:r>
            <a:r>
              <a:rPr lang="en-US" sz="2233" u="none" spc="35">
                <a:solidFill>
                  <a:srgbClr val="1C2120"/>
                </a:solidFill>
                <a:latin typeface="DM Sans"/>
                <a:ea typeface="DM Sans"/>
                <a:cs typeface="DM Sans"/>
                <a:sym typeface="DM Sans"/>
              </a:rPr>
              <a:t>o evaluate the system using performance metrics.</a:t>
            </a:r>
          </a:p>
        </p:txBody>
      </p:sp>
      <p:sp>
        <p:nvSpPr>
          <p:cNvPr id="22" name="TextBox 22"/>
          <p:cNvSpPr txBox="1"/>
          <p:nvPr/>
        </p:nvSpPr>
        <p:spPr>
          <a:xfrm>
            <a:off x="10469832" y="8460069"/>
            <a:ext cx="6057319" cy="1135297"/>
          </a:xfrm>
          <a:prstGeom prst="rect">
            <a:avLst/>
          </a:prstGeom>
        </p:spPr>
        <p:txBody>
          <a:bodyPr lIns="0" tIns="0" rIns="0" bIns="0" rtlCol="0" anchor="t">
            <a:spAutoFit/>
          </a:bodyPr>
          <a:lstStyle/>
          <a:p>
            <a:pPr algn="just">
              <a:lnSpc>
                <a:spcPts val="3015"/>
              </a:lnSpc>
              <a:spcBef>
                <a:spcPct val="0"/>
              </a:spcBef>
            </a:pPr>
            <a:r>
              <a:rPr lang="en-US" sz="2233" spc="35">
                <a:solidFill>
                  <a:srgbClr val="1C2120"/>
                </a:solidFill>
                <a:latin typeface="DM Sans"/>
                <a:ea typeface="DM Sans"/>
                <a:cs typeface="DM Sans"/>
                <a:sym typeface="DM Sans"/>
              </a:rPr>
              <a:t>T</a:t>
            </a:r>
            <a:r>
              <a:rPr lang="en-US" sz="2233" u="none" spc="35">
                <a:solidFill>
                  <a:srgbClr val="1C2120"/>
                </a:solidFill>
                <a:latin typeface="DM Sans"/>
                <a:ea typeface="DM Sans"/>
                <a:cs typeface="DM Sans"/>
                <a:sym typeface="DM Sans"/>
              </a:rPr>
              <a:t>o optimize model accuracy and reduce false positives.</a:t>
            </a:r>
          </a:p>
          <a:p>
            <a:pPr marL="0" lvl="0" indent="0" algn="just">
              <a:lnSpc>
                <a:spcPts val="3015"/>
              </a:lnSpc>
              <a:spcBef>
                <a:spcPct val="0"/>
              </a:spcBef>
            </a:pPr>
            <a:endParaRPr lang="en-US" sz="2233" u="none" spc="35">
              <a:solidFill>
                <a:srgbClr val="1C2120"/>
              </a:solidFill>
              <a:latin typeface="DM Sans"/>
              <a:ea typeface="DM Sans"/>
              <a:cs typeface="DM Sans"/>
              <a:sym typeface="DM Sans"/>
            </a:endParaRPr>
          </a:p>
        </p:txBody>
      </p:sp>
      <p:sp>
        <p:nvSpPr>
          <p:cNvPr id="23" name="Freeform 23"/>
          <p:cNvSpPr/>
          <p:nvPr/>
        </p:nvSpPr>
        <p:spPr>
          <a:xfrm>
            <a:off x="16424288" y="244263"/>
            <a:ext cx="1670025" cy="2141058"/>
          </a:xfrm>
          <a:custGeom>
            <a:avLst/>
            <a:gdLst/>
            <a:ahLst/>
            <a:cxnLst/>
            <a:rect l="l" t="t" r="r" b="b"/>
            <a:pathLst>
              <a:path w="1670025" h="2141058">
                <a:moveTo>
                  <a:pt x="0" y="0"/>
                </a:moveTo>
                <a:lnTo>
                  <a:pt x="1670024" y="0"/>
                </a:lnTo>
                <a:lnTo>
                  <a:pt x="1670024" y="2141058"/>
                </a:lnTo>
                <a:lnTo>
                  <a:pt x="0" y="2141058"/>
                </a:lnTo>
                <a:lnTo>
                  <a:pt x="0" y="0"/>
                </a:lnTo>
                <a:close/>
              </a:path>
            </a:pathLst>
          </a:custGeom>
          <a:blipFill>
            <a:blip r:embed="rId2"/>
            <a:stretch>
              <a:fillRect/>
            </a:stretch>
          </a:blipFill>
        </p:spPr>
      </p:sp>
      <p:sp>
        <p:nvSpPr>
          <p:cNvPr id="24" name="Freeform 24"/>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696748" y="2829656"/>
            <a:ext cx="8591252" cy="5727501"/>
          </a:xfrm>
          <a:custGeom>
            <a:avLst/>
            <a:gdLst/>
            <a:ahLst/>
            <a:cxnLst/>
            <a:rect l="l" t="t" r="r" b="b"/>
            <a:pathLst>
              <a:path w="8591252" h="5727501">
                <a:moveTo>
                  <a:pt x="0" y="0"/>
                </a:moveTo>
                <a:lnTo>
                  <a:pt x="8591252" y="0"/>
                </a:lnTo>
                <a:lnTo>
                  <a:pt x="8591252" y="5727502"/>
                </a:lnTo>
                <a:lnTo>
                  <a:pt x="0" y="5727502"/>
                </a:lnTo>
                <a:lnTo>
                  <a:pt x="0" y="0"/>
                </a:lnTo>
                <a:close/>
              </a:path>
            </a:pathLst>
          </a:custGeom>
          <a:blipFill>
            <a:blip r:embed="rId2"/>
            <a:stretch>
              <a:fillRect/>
            </a:stretch>
          </a:blipFill>
        </p:spPr>
      </p:sp>
      <p:sp>
        <p:nvSpPr>
          <p:cNvPr id="3" name="TextBox 3"/>
          <p:cNvSpPr txBox="1"/>
          <p:nvPr/>
        </p:nvSpPr>
        <p:spPr>
          <a:xfrm>
            <a:off x="5178054" y="1756549"/>
            <a:ext cx="8537476" cy="1322151"/>
          </a:xfrm>
          <a:prstGeom prst="rect">
            <a:avLst/>
          </a:prstGeom>
        </p:spPr>
        <p:txBody>
          <a:bodyPr lIns="0" tIns="0" rIns="0" bIns="0" rtlCol="0" anchor="t">
            <a:spAutoFit/>
          </a:bodyPr>
          <a:lstStyle/>
          <a:p>
            <a:pPr algn="l">
              <a:lnSpc>
                <a:spcPts val="9658"/>
              </a:lnSpc>
            </a:pPr>
            <a:r>
              <a:rPr lang="en-US" sz="8472" b="1">
                <a:solidFill>
                  <a:srgbClr val="1C2120"/>
                </a:solidFill>
                <a:latin typeface="Poppins Bold"/>
                <a:ea typeface="Poppins Bold"/>
                <a:cs typeface="Poppins Bold"/>
                <a:sym typeface="Poppins Bold"/>
              </a:rPr>
              <a:t>INTRODUCTION</a:t>
            </a:r>
          </a:p>
        </p:txBody>
      </p:sp>
      <p:sp>
        <p:nvSpPr>
          <p:cNvPr id="4" name="TextBox 4"/>
          <p:cNvSpPr txBox="1"/>
          <p:nvPr/>
        </p:nvSpPr>
        <p:spPr>
          <a:xfrm>
            <a:off x="925206" y="3553679"/>
            <a:ext cx="8537476" cy="6162675"/>
          </a:xfrm>
          <a:prstGeom prst="rect">
            <a:avLst/>
          </a:prstGeom>
        </p:spPr>
        <p:txBody>
          <a:bodyPr lIns="0" tIns="0" rIns="0" bIns="0" rtlCol="0" anchor="t">
            <a:spAutoFit/>
          </a:bodyPr>
          <a:lstStyle/>
          <a:p>
            <a:pPr marL="647700" lvl="1" indent="-323850" algn="l">
              <a:lnSpc>
                <a:spcPts val="4050"/>
              </a:lnSpc>
              <a:spcBef>
                <a:spcPct val="0"/>
              </a:spcBef>
              <a:buFont typeface="Arial"/>
              <a:buChar char="•"/>
            </a:pPr>
            <a:r>
              <a:rPr lang="en-US" sz="3000" spc="179">
                <a:solidFill>
                  <a:srgbClr val="000000"/>
                </a:solidFill>
                <a:latin typeface="DM Sans"/>
                <a:ea typeface="DM Sans"/>
                <a:cs typeface="DM Sans"/>
                <a:sym typeface="DM Sans"/>
              </a:rPr>
              <a:t>E</a:t>
            </a:r>
            <a:r>
              <a:rPr lang="en-US" sz="3000" u="none" spc="179">
                <a:solidFill>
                  <a:srgbClr val="000000"/>
                </a:solidFill>
                <a:latin typeface="DM Sans"/>
                <a:ea typeface="DM Sans"/>
                <a:cs typeface="DM Sans"/>
                <a:sym typeface="DM Sans"/>
              </a:rPr>
              <a:t>mail spam continues to grow, causing security risks and productivity issues.</a:t>
            </a:r>
          </a:p>
          <a:p>
            <a:pPr marL="647700" lvl="1" indent="-323850" algn="l">
              <a:lnSpc>
                <a:spcPts val="4050"/>
              </a:lnSpc>
              <a:spcBef>
                <a:spcPct val="0"/>
              </a:spcBef>
              <a:buFont typeface="Arial"/>
              <a:buChar char="•"/>
            </a:pPr>
            <a:r>
              <a:rPr lang="en-US" sz="3000" u="none" spc="179">
                <a:solidFill>
                  <a:srgbClr val="000000"/>
                </a:solidFill>
                <a:latin typeface="DM Sans"/>
                <a:ea typeface="DM Sans"/>
                <a:cs typeface="DM Sans"/>
                <a:sym typeface="DM Sans"/>
              </a:rPr>
              <a:t>Traditional rule-based filters fail due to evolving spam strategies.</a:t>
            </a:r>
          </a:p>
          <a:p>
            <a:pPr marL="647700" lvl="1" indent="-323850" algn="l">
              <a:lnSpc>
                <a:spcPts val="4050"/>
              </a:lnSpc>
              <a:spcBef>
                <a:spcPct val="0"/>
              </a:spcBef>
              <a:buFont typeface="Arial"/>
              <a:buChar char="•"/>
            </a:pPr>
            <a:r>
              <a:rPr lang="en-US" sz="3000" u="none" spc="179">
                <a:solidFill>
                  <a:srgbClr val="000000"/>
                </a:solidFill>
                <a:latin typeface="DM Sans"/>
                <a:ea typeface="DM Sans"/>
                <a:cs typeface="DM Sans"/>
                <a:sym typeface="DM Sans"/>
              </a:rPr>
              <a:t>Text mining allows extraction of meaningful patterns from email text.</a:t>
            </a:r>
          </a:p>
          <a:p>
            <a:pPr marL="647700" lvl="1" indent="-323850" algn="l">
              <a:lnSpc>
                <a:spcPts val="4050"/>
              </a:lnSpc>
              <a:spcBef>
                <a:spcPct val="0"/>
              </a:spcBef>
              <a:buFont typeface="Arial"/>
              <a:buChar char="•"/>
            </a:pPr>
            <a:r>
              <a:rPr lang="en-US" sz="3000" u="none" spc="179">
                <a:solidFill>
                  <a:srgbClr val="000000"/>
                </a:solidFill>
                <a:latin typeface="DM Sans"/>
                <a:ea typeface="DM Sans"/>
                <a:cs typeface="DM Sans"/>
                <a:sym typeface="DM Sans"/>
              </a:rPr>
              <a:t>Machine learning enables automatic classification of emails as spam or ham.</a:t>
            </a:r>
          </a:p>
          <a:p>
            <a:pPr marL="647700" lvl="1" indent="-323850" algn="l">
              <a:lnSpc>
                <a:spcPts val="4050"/>
              </a:lnSpc>
              <a:spcBef>
                <a:spcPct val="0"/>
              </a:spcBef>
              <a:buFont typeface="Arial"/>
              <a:buChar char="•"/>
            </a:pPr>
            <a:r>
              <a:rPr lang="en-US" sz="3000" u="none" spc="179">
                <a:solidFill>
                  <a:srgbClr val="000000"/>
                </a:solidFill>
                <a:latin typeface="DM Sans"/>
                <a:ea typeface="DM Sans"/>
                <a:cs typeface="DM Sans"/>
                <a:sym typeface="DM Sans"/>
              </a:rPr>
              <a:t>R programming provides powerful libraries for data preprocessing and modeling.</a:t>
            </a:r>
          </a:p>
          <a:p>
            <a:pPr marL="0" lvl="0" indent="0" algn="l">
              <a:lnSpc>
                <a:spcPts val="4050"/>
              </a:lnSpc>
              <a:spcBef>
                <a:spcPct val="0"/>
              </a:spcBef>
            </a:pPr>
            <a:endParaRPr lang="en-US" sz="3000" u="none" spc="179">
              <a:solidFill>
                <a:srgbClr val="000000"/>
              </a:solidFill>
              <a:latin typeface="DM Sans"/>
              <a:ea typeface="DM Sans"/>
              <a:cs typeface="DM Sans"/>
              <a:sym typeface="DM Sans"/>
            </a:endParaRPr>
          </a:p>
        </p:txBody>
      </p:sp>
      <p:sp>
        <p:nvSpPr>
          <p:cNvPr id="5" name="Freeform 5"/>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3"/>
            <a:stretch>
              <a:fillRect/>
            </a:stretch>
          </a:blipFill>
        </p:spPr>
      </p:sp>
      <p:sp>
        <p:nvSpPr>
          <p:cNvPr id="6" name="Freeform 6"/>
          <p:cNvSpPr/>
          <p:nvPr/>
        </p:nvSpPr>
        <p:spPr>
          <a:xfrm>
            <a:off x="16334837" y="295617"/>
            <a:ext cx="1670025" cy="2141058"/>
          </a:xfrm>
          <a:custGeom>
            <a:avLst/>
            <a:gdLst/>
            <a:ahLst/>
            <a:cxnLst/>
            <a:rect l="l" t="t" r="r" b="b"/>
            <a:pathLst>
              <a:path w="1670025" h="2141058">
                <a:moveTo>
                  <a:pt x="0" y="0"/>
                </a:moveTo>
                <a:lnTo>
                  <a:pt x="1670025" y="0"/>
                </a:lnTo>
                <a:lnTo>
                  <a:pt x="1670025" y="2141057"/>
                </a:lnTo>
                <a:lnTo>
                  <a:pt x="0" y="2141057"/>
                </a:lnTo>
                <a:lnTo>
                  <a:pt x="0" y="0"/>
                </a:lnTo>
                <a:close/>
              </a:path>
            </a:pathLst>
          </a:custGeom>
          <a:blipFill>
            <a:blip r:embed="rId4"/>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816550"/>
            <a:ext cx="8908102" cy="2787249"/>
          </a:xfrm>
          <a:prstGeom prst="rect">
            <a:avLst/>
          </a:prstGeom>
        </p:spPr>
        <p:txBody>
          <a:bodyPr lIns="0" tIns="0" rIns="0" bIns="0" rtlCol="0" anchor="t">
            <a:spAutoFit/>
          </a:bodyPr>
          <a:lstStyle/>
          <a:p>
            <a:pPr marL="0" lvl="1" indent="0" algn="l">
              <a:lnSpc>
                <a:spcPts val="10321"/>
              </a:lnSpc>
              <a:spcBef>
                <a:spcPct val="0"/>
              </a:spcBef>
            </a:pPr>
            <a:r>
              <a:rPr lang="en-US" sz="10640" b="1">
                <a:solidFill>
                  <a:srgbClr val="1C2120"/>
                </a:solidFill>
                <a:latin typeface="Poppins Bold"/>
                <a:ea typeface="Poppins Bold"/>
                <a:cs typeface="Poppins Bold"/>
                <a:sym typeface="Poppins Bold"/>
              </a:rPr>
              <a:t>PROBLEM STATEMENT</a:t>
            </a:r>
          </a:p>
        </p:txBody>
      </p:sp>
      <p:grpSp>
        <p:nvGrpSpPr>
          <p:cNvPr id="3" name="Group 3"/>
          <p:cNvGrpSpPr/>
          <p:nvPr/>
        </p:nvGrpSpPr>
        <p:grpSpPr>
          <a:xfrm>
            <a:off x="10428586" y="1685914"/>
            <a:ext cx="6830714" cy="1214085"/>
            <a:chOff x="0" y="0"/>
            <a:chExt cx="2286638" cy="406425"/>
          </a:xfrm>
        </p:grpSpPr>
        <p:sp>
          <p:nvSpPr>
            <p:cNvPr id="4" name="Freeform 4"/>
            <p:cNvSpPr/>
            <p:nvPr/>
          </p:nvSpPr>
          <p:spPr>
            <a:xfrm>
              <a:off x="0" y="0"/>
              <a:ext cx="2286638" cy="406425"/>
            </a:xfrm>
            <a:custGeom>
              <a:avLst/>
              <a:gdLst/>
              <a:ahLst/>
              <a:cxnLst/>
              <a:rect l="l" t="t" r="r" b="b"/>
              <a:pathLst>
                <a:path w="2286638" h="406425">
                  <a:moveTo>
                    <a:pt x="56670" y="0"/>
                  </a:moveTo>
                  <a:lnTo>
                    <a:pt x="2229968" y="0"/>
                  </a:lnTo>
                  <a:cubicBezTo>
                    <a:pt x="2261266" y="0"/>
                    <a:pt x="2286638" y="25372"/>
                    <a:pt x="2286638" y="56670"/>
                  </a:cubicBezTo>
                  <a:lnTo>
                    <a:pt x="2286638" y="349755"/>
                  </a:lnTo>
                  <a:cubicBezTo>
                    <a:pt x="2286638" y="364785"/>
                    <a:pt x="2280667" y="379199"/>
                    <a:pt x="2270040" y="389827"/>
                  </a:cubicBezTo>
                  <a:cubicBezTo>
                    <a:pt x="2259412" y="400454"/>
                    <a:pt x="2244998" y="406425"/>
                    <a:pt x="2229968" y="406425"/>
                  </a:cubicBezTo>
                  <a:lnTo>
                    <a:pt x="56670" y="406425"/>
                  </a:lnTo>
                  <a:cubicBezTo>
                    <a:pt x="25372" y="406425"/>
                    <a:pt x="0" y="381053"/>
                    <a:pt x="0" y="349755"/>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5" name="TextBox 5"/>
            <p:cNvSpPr txBox="1"/>
            <p:nvPr/>
          </p:nvSpPr>
          <p:spPr>
            <a:xfrm>
              <a:off x="0" y="85725"/>
              <a:ext cx="2286638" cy="320700"/>
            </a:xfrm>
            <a:prstGeom prst="rect">
              <a:avLst/>
            </a:prstGeom>
          </p:spPr>
          <p:txBody>
            <a:bodyPr lIns="50800" tIns="50800" rIns="50800" bIns="50800" rtlCol="0" anchor="ctr"/>
            <a:lstStyle/>
            <a:p>
              <a:pPr algn="ctr">
                <a:lnSpc>
                  <a:spcPts val="1925"/>
                </a:lnSpc>
              </a:pPr>
              <a:endParaRPr/>
            </a:p>
          </p:txBody>
        </p:sp>
      </p:grpSp>
      <p:sp>
        <p:nvSpPr>
          <p:cNvPr id="6" name="TextBox 6"/>
          <p:cNvSpPr txBox="1"/>
          <p:nvPr/>
        </p:nvSpPr>
        <p:spPr>
          <a:xfrm>
            <a:off x="11184884" y="1825908"/>
            <a:ext cx="5851517" cy="1074091"/>
          </a:xfrm>
          <a:prstGeom prst="rect">
            <a:avLst/>
          </a:prstGeom>
        </p:spPr>
        <p:txBody>
          <a:bodyPr lIns="0" tIns="0" rIns="0" bIns="0" rtlCol="0" anchor="t">
            <a:spAutoFit/>
          </a:bodyPr>
          <a:lstStyle/>
          <a:p>
            <a:pPr marL="0" lvl="0" indent="0" algn="just">
              <a:lnSpc>
                <a:spcPts val="2858"/>
              </a:lnSpc>
              <a:spcBef>
                <a:spcPct val="0"/>
              </a:spcBef>
            </a:pPr>
            <a:r>
              <a:rPr lang="en-US" sz="2117" spc="33">
                <a:solidFill>
                  <a:srgbClr val="1C2120"/>
                </a:solidFill>
                <a:latin typeface="DM Sans"/>
                <a:ea typeface="DM Sans"/>
                <a:cs typeface="DM Sans"/>
                <a:sym typeface="DM Sans"/>
              </a:rPr>
              <a:t>E</a:t>
            </a:r>
            <a:r>
              <a:rPr lang="en-US" sz="2117" u="none" spc="33">
                <a:solidFill>
                  <a:srgbClr val="1C2120"/>
                </a:solidFill>
                <a:latin typeface="DM Sans"/>
                <a:ea typeface="DM Sans"/>
                <a:cs typeface="DM Sans"/>
                <a:sym typeface="DM Sans"/>
              </a:rPr>
              <a:t>mail spam significantly affects</a:t>
            </a:r>
          </a:p>
          <a:p>
            <a:pPr marL="0" lvl="0" indent="0" algn="just">
              <a:lnSpc>
                <a:spcPts val="2858"/>
              </a:lnSpc>
              <a:spcBef>
                <a:spcPct val="0"/>
              </a:spcBef>
            </a:pPr>
            <a:r>
              <a:rPr lang="en-US" sz="2117" u="none" spc="33">
                <a:solidFill>
                  <a:srgbClr val="1C2120"/>
                </a:solidFill>
                <a:latin typeface="DM Sans"/>
                <a:ea typeface="DM Sans"/>
                <a:cs typeface="DM Sans"/>
                <a:sym typeface="DM Sans"/>
              </a:rPr>
              <a:t> communication efficiency and security.</a:t>
            </a:r>
          </a:p>
          <a:p>
            <a:pPr marL="0" lvl="0" indent="0" algn="just">
              <a:lnSpc>
                <a:spcPts val="2858"/>
              </a:lnSpc>
              <a:spcBef>
                <a:spcPct val="0"/>
              </a:spcBef>
            </a:pPr>
            <a:endParaRPr lang="en-US" sz="2117" u="none" spc="33">
              <a:solidFill>
                <a:srgbClr val="1C2120"/>
              </a:solidFill>
              <a:latin typeface="DM Sans"/>
              <a:ea typeface="DM Sans"/>
              <a:cs typeface="DM Sans"/>
              <a:sym typeface="DM Sans"/>
            </a:endParaRPr>
          </a:p>
        </p:txBody>
      </p:sp>
      <p:grpSp>
        <p:nvGrpSpPr>
          <p:cNvPr id="7" name="Group 7"/>
          <p:cNvGrpSpPr/>
          <p:nvPr/>
        </p:nvGrpSpPr>
        <p:grpSpPr>
          <a:xfrm>
            <a:off x="10428586" y="3174457"/>
            <a:ext cx="6830714" cy="1214085"/>
            <a:chOff x="0" y="0"/>
            <a:chExt cx="2286638" cy="406425"/>
          </a:xfrm>
        </p:grpSpPr>
        <p:sp>
          <p:nvSpPr>
            <p:cNvPr id="8" name="Freeform 8"/>
            <p:cNvSpPr/>
            <p:nvPr/>
          </p:nvSpPr>
          <p:spPr>
            <a:xfrm>
              <a:off x="0" y="0"/>
              <a:ext cx="2286638" cy="406425"/>
            </a:xfrm>
            <a:custGeom>
              <a:avLst/>
              <a:gdLst/>
              <a:ahLst/>
              <a:cxnLst/>
              <a:rect l="l" t="t" r="r" b="b"/>
              <a:pathLst>
                <a:path w="2286638" h="406425">
                  <a:moveTo>
                    <a:pt x="56670" y="0"/>
                  </a:moveTo>
                  <a:lnTo>
                    <a:pt x="2229968" y="0"/>
                  </a:lnTo>
                  <a:cubicBezTo>
                    <a:pt x="2261266" y="0"/>
                    <a:pt x="2286638" y="25372"/>
                    <a:pt x="2286638" y="56670"/>
                  </a:cubicBezTo>
                  <a:lnTo>
                    <a:pt x="2286638" y="349755"/>
                  </a:lnTo>
                  <a:cubicBezTo>
                    <a:pt x="2286638" y="364785"/>
                    <a:pt x="2280667" y="379199"/>
                    <a:pt x="2270040" y="389827"/>
                  </a:cubicBezTo>
                  <a:cubicBezTo>
                    <a:pt x="2259412" y="400454"/>
                    <a:pt x="2244998" y="406425"/>
                    <a:pt x="2229968" y="406425"/>
                  </a:cubicBezTo>
                  <a:lnTo>
                    <a:pt x="56670" y="406425"/>
                  </a:lnTo>
                  <a:cubicBezTo>
                    <a:pt x="25372" y="406425"/>
                    <a:pt x="0" y="381053"/>
                    <a:pt x="0" y="349755"/>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9" name="TextBox 9"/>
            <p:cNvSpPr txBox="1"/>
            <p:nvPr/>
          </p:nvSpPr>
          <p:spPr>
            <a:xfrm>
              <a:off x="0" y="85725"/>
              <a:ext cx="2286638" cy="320700"/>
            </a:xfrm>
            <a:prstGeom prst="rect">
              <a:avLst/>
            </a:prstGeom>
          </p:spPr>
          <p:txBody>
            <a:bodyPr lIns="50800" tIns="50800" rIns="50800" bIns="50800" rtlCol="0" anchor="ctr"/>
            <a:lstStyle/>
            <a:p>
              <a:pPr algn="ctr">
                <a:lnSpc>
                  <a:spcPts val="1925"/>
                </a:lnSpc>
              </a:pPr>
              <a:endParaRPr/>
            </a:p>
          </p:txBody>
        </p:sp>
      </p:grpSp>
      <p:grpSp>
        <p:nvGrpSpPr>
          <p:cNvPr id="10" name="Group 10"/>
          <p:cNvGrpSpPr/>
          <p:nvPr/>
        </p:nvGrpSpPr>
        <p:grpSpPr>
          <a:xfrm>
            <a:off x="10428586" y="4664767"/>
            <a:ext cx="6830714" cy="1214085"/>
            <a:chOff x="0" y="0"/>
            <a:chExt cx="2286638" cy="406425"/>
          </a:xfrm>
        </p:grpSpPr>
        <p:sp>
          <p:nvSpPr>
            <p:cNvPr id="11" name="Freeform 11"/>
            <p:cNvSpPr/>
            <p:nvPr/>
          </p:nvSpPr>
          <p:spPr>
            <a:xfrm>
              <a:off x="0" y="0"/>
              <a:ext cx="2286638" cy="406425"/>
            </a:xfrm>
            <a:custGeom>
              <a:avLst/>
              <a:gdLst/>
              <a:ahLst/>
              <a:cxnLst/>
              <a:rect l="l" t="t" r="r" b="b"/>
              <a:pathLst>
                <a:path w="2286638" h="406425">
                  <a:moveTo>
                    <a:pt x="56670" y="0"/>
                  </a:moveTo>
                  <a:lnTo>
                    <a:pt x="2229968" y="0"/>
                  </a:lnTo>
                  <a:cubicBezTo>
                    <a:pt x="2261266" y="0"/>
                    <a:pt x="2286638" y="25372"/>
                    <a:pt x="2286638" y="56670"/>
                  </a:cubicBezTo>
                  <a:lnTo>
                    <a:pt x="2286638" y="349755"/>
                  </a:lnTo>
                  <a:cubicBezTo>
                    <a:pt x="2286638" y="364785"/>
                    <a:pt x="2280667" y="379199"/>
                    <a:pt x="2270040" y="389827"/>
                  </a:cubicBezTo>
                  <a:cubicBezTo>
                    <a:pt x="2259412" y="400454"/>
                    <a:pt x="2244998" y="406425"/>
                    <a:pt x="2229968" y="406425"/>
                  </a:cubicBezTo>
                  <a:lnTo>
                    <a:pt x="56670" y="406425"/>
                  </a:lnTo>
                  <a:cubicBezTo>
                    <a:pt x="25372" y="406425"/>
                    <a:pt x="0" y="381053"/>
                    <a:pt x="0" y="349755"/>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2" name="TextBox 12"/>
            <p:cNvSpPr txBox="1"/>
            <p:nvPr/>
          </p:nvSpPr>
          <p:spPr>
            <a:xfrm>
              <a:off x="0" y="85725"/>
              <a:ext cx="2286638" cy="320700"/>
            </a:xfrm>
            <a:prstGeom prst="rect">
              <a:avLst/>
            </a:prstGeom>
          </p:spPr>
          <p:txBody>
            <a:bodyPr lIns="50800" tIns="50800" rIns="50800" bIns="50800" rtlCol="0" anchor="ctr"/>
            <a:lstStyle/>
            <a:p>
              <a:pPr algn="ctr">
                <a:lnSpc>
                  <a:spcPts val="1925"/>
                </a:lnSpc>
              </a:pPr>
              <a:endParaRPr/>
            </a:p>
          </p:txBody>
        </p:sp>
      </p:grpSp>
      <p:grpSp>
        <p:nvGrpSpPr>
          <p:cNvPr id="13" name="Group 13"/>
          <p:cNvGrpSpPr/>
          <p:nvPr/>
        </p:nvGrpSpPr>
        <p:grpSpPr>
          <a:xfrm>
            <a:off x="10428586" y="6326527"/>
            <a:ext cx="6830714" cy="1547019"/>
            <a:chOff x="0" y="0"/>
            <a:chExt cx="2286638" cy="517877"/>
          </a:xfrm>
        </p:grpSpPr>
        <p:sp>
          <p:nvSpPr>
            <p:cNvPr id="14" name="Freeform 14"/>
            <p:cNvSpPr/>
            <p:nvPr/>
          </p:nvSpPr>
          <p:spPr>
            <a:xfrm>
              <a:off x="0" y="0"/>
              <a:ext cx="2286638" cy="517877"/>
            </a:xfrm>
            <a:custGeom>
              <a:avLst/>
              <a:gdLst/>
              <a:ahLst/>
              <a:cxnLst/>
              <a:rect l="l" t="t" r="r" b="b"/>
              <a:pathLst>
                <a:path w="2286638" h="517877">
                  <a:moveTo>
                    <a:pt x="56670" y="0"/>
                  </a:moveTo>
                  <a:lnTo>
                    <a:pt x="2229968" y="0"/>
                  </a:lnTo>
                  <a:cubicBezTo>
                    <a:pt x="2261266" y="0"/>
                    <a:pt x="2286638" y="25372"/>
                    <a:pt x="2286638" y="56670"/>
                  </a:cubicBezTo>
                  <a:lnTo>
                    <a:pt x="2286638" y="461207"/>
                  </a:lnTo>
                  <a:cubicBezTo>
                    <a:pt x="2286638" y="476237"/>
                    <a:pt x="2280667" y="490651"/>
                    <a:pt x="2270040" y="501279"/>
                  </a:cubicBezTo>
                  <a:cubicBezTo>
                    <a:pt x="2259412" y="511907"/>
                    <a:pt x="2244998" y="517877"/>
                    <a:pt x="2229968" y="517877"/>
                  </a:cubicBezTo>
                  <a:lnTo>
                    <a:pt x="56670" y="517877"/>
                  </a:lnTo>
                  <a:cubicBezTo>
                    <a:pt x="25372" y="517877"/>
                    <a:pt x="0" y="492505"/>
                    <a:pt x="0" y="461207"/>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5" name="TextBox 15"/>
            <p:cNvSpPr txBox="1"/>
            <p:nvPr/>
          </p:nvSpPr>
          <p:spPr>
            <a:xfrm>
              <a:off x="0" y="85725"/>
              <a:ext cx="2286638" cy="432152"/>
            </a:xfrm>
            <a:prstGeom prst="rect">
              <a:avLst/>
            </a:prstGeom>
          </p:spPr>
          <p:txBody>
            <a:bodyPr lIns="50800" tIns="50800" rIns="50800" bIns="50800" rtlCol="0" anchor="ctr"/>
            <a:lstStyle/>
            <a:p>
              <a:pPr algn="ctr">
                <a:lnSpc>
                  <a:spcPts val="1925"/>
                </a:lnSpc>
              </a:pPr>
              <a:endParaRPr/>
            </a:p>
          </p:txBody>
        </p:sp>
      </p:grpSp>
      <p:sp>
        <p:nvSpPr>
          <p:cNvPr id="16" name="TextBox 16"/>
          <p:cNvSpPr txBox="1"/>
          <p:nvPr/>
        </p:nvSpPr>
        <p:spPr>
          <a:xfrm>
            <a:off x="10968984" y="3411141"/>
            <a:ext cx="5749917" cy="712141"/>
          </a:xfrm>
          <a:prstGeom prst="rect">
            <a:avLst/>
          </a:prstGeom>
        </p:spPr>
        <p:txBody>
          <a:bodyPr lIns="0" tIns="0" rIns="0" bIns="0" rtlCol="0" anchor="t">
            <a:spAutoFit/>
          </a:bodyPr>
          <a:lstStyle/>
          <a:p>
            <a:pPr marL="0" lvl="0" indent="0" algn="just">
              <a:lnSpc>
                <a:spcPts val="2858"/>
              </a:lnSpc>
              <a:spcBef>
                <a:spcPct val="0"/>
              </a:spcBef>
            </a:pPr>
            <a:r>
              <a:rPr lang="en-US" sz="2117" spc="33">
                <a:solidFill>
                  <a:srgbClr val="1C2120"/>
                </a:solidFill>
                <a:latin typeface="DM Sans"/>
                <a:ea typeface="DM Sans"/>
                <a:cs typeface="DM Sans"/>
                <a:sym typeface="DM Sans"/>
              </a:rPr>
              <a:t>Rule-b</a:t>
            </a:r>
            <a:r>
              <a:rPr lang="en-US" sz="2117" u="none" spc="33">
                <a:solidFill>
                  <a:srgbClr val="1C2120"/>
                </a:solidFill>
                <a:latin typeface="DM Sans"/>
                <a:ea typeface="DM Sans"/>
                <a:cs typeface="DM Sans"/>
                <a:sym typeface="DM Sans"/>
              </a:rPr>
              <a:t>ased filtering is outdated and</a:t>
            </a:r>
          </a:p>
          <a:p>
            <a:pPr marL="0" lvl="0" indent="0" algn="just">
              <a:lnSpc>
                <a:spcPts val="2858"/>
              </a:lnSpc>
              <a:spcBef>
                <a:spcPct val="0"/>
              </a:spcBef>
            </a:pPr>
            <a:r>
              <a:rPr lang="en-US" sz="2117" u="none" spc="33">
                <a:solidFill>
                  <a:srgbClr val="1C2120"/>
                </a:solidFill>
                <a:latin typeface="DM Sans"/>
                <a:ea typeface="DM Sans"/>
                <a:cs typeface="DM Sans"/>
                <a:sym typeface="DM Sans"/>
              </a:rPr>
              <a:t>inaccurate for advanced spam types.</a:t>
            </a:r>
          </a:p>
        </p:txBody>
      </p:sp>
      <p:sp>
        <p:nvSpPr>
          <p:cNvPr id="17" name="TextBox 17"/>
          <p:cNvSpPr txBox="1"/>
          <p:nvPr/>
        </p:nvSpPr>
        <p:spPr>
          <a:xfrm>
            <a:off x="10829284" y="4901451"/>
            <a:ext cx="6029317" cy="712141"/>
          </a:xfrm>
          <a:prstGeom prst="rect">
            <a:avLst/>
          </a:prstGeom>
        </p:spPr>
        <p:txBody>
          <a:bodyPr lIns="0" tIns="0" rIns="0" bIns="0" rtlCol="0" anchor="t">
            <a:spAutoFit/>
          </a:bodyPr>
          <a:lstStyle/>
          <a:p>
            <a:pPr marL="0" lvl="0" indent="0" algn="just">
              <a:lnSpc>
                <a:spcPts val="2858"/>
              </a:lnSpc>
              <a:spcBef>
                <a:spcPct val="0"/>
              </a:spcBef>
            </a:pPr>
            <a:r>
              <a:rPr lang="en-US" sz="2117" spc="33">
                <a:solidFill>
                  <a:srgbClr val="1C2120"/>
                </a:solidFill>
                <a:latin typeface="DM Sans"/>
                <a:ea typeface="DM Sans"/>
                <a:cs typeface="DM Sans"/>
                <a:sym typeface="DM Sans"/>
              </a:rPr>
              <a:t>There </a:t>
            </a:r>
            <a:r>
              <a:rPr lang="en-US" sz="2117" u="none" spc="33">
                <a:solidFill>
                  <a:srgbClr val="1C2120"/>
                </a:solidFill>
                <a:latin typeface="DM Sans"/>
                <a:ea typeface="DM Sans"/>
                <a:cs typeface="DM Sans"/>
                <a:sym typeface="DM Sans"/>
              </a:rPr>
              <a:t>is a need for an intelligent, automated, and accurate spam classification model.</a:t>
            </a:r>
          </a:p>
        </p:txBody>
      </p:sp>
      <p:sp>
        <p:nvSpPr>
          <p:cNvPr id="18" name="TextBox 18"/>
          <p:cNvSpPr txBox="1"/>
          <p:nvPr/>
        </p:nvSpPr>
        <p:spPr>
          <a:xfrm>
            <a:off x="10626084" y="6561330"/>
            <a:ext cx="6232517" cy="1074091"/>
          </a:xfrm>
          <a:prstGeom prst="rect">
            <a:avLst/>
          </a:prstGeom>
        </p:spPr>
        <p:txBody>
          <a:bodyPr lIns="0" tIns="0" rIns="0" bIns="0" rtlCol="0" anchor="t">
            <a:spAutoFit/>
          </a:bodyPr>
          <a:lstStyle/>
          <a:p>
            <a:pPr marL="0" lvl="0" indent="0" algn="just">
              <a:lnSpc>
                <a:spcPts val="2858"/>
              </a:lnSpc>
              <a:spcBef>
                <a:spcPct val="0"/>
              </a:spcBef>
            </a:pPr>
            <a:r>
              <a:rPr lang="en-US" sz="2117" spc="33">
                <a:solidFill>
                  <a:srgbClr val="1C2120"/>
                </a:solidFill>
                <a:latin typeface="DM Sans"/>
                <a:ea typeface="DM Sans"/>
                <a:cs typeface="DM Sans"/>
                <a:sym typeface="DM Sans"/>
              </a:rPr>
              <a:t>The ch</a:t>
            </a:r>
            <a:r>
              <a:rPr lang="en-US" sz="2117" u="none" spc="33">
                <a:solidFill>
                  <a:srgbClr val="1C2120"/>
                </a:solidFill>
                <a:latin typeface="DM Sans"/>
                <a:ea typeface="DM Sans"/>
                <a:cs typeface="DM Sans"/>
                <a:sym typeface="DM Sans"/>
              </a:rPr>
              <a:t>allenge is to build a system that reliably distinguishes spam from legitimate emails using text mining + ML in R.</a:t>
            </a:r>
          </a:p>
        </p:txBody>
      </p:sp>
      <p:sp>
        <p:nvSpPr>
          <p:cNvPr id="19" name="Freeform 19"/>
          <p:cNvSpPr/>
          <p:nvPr/>
        </p:nvSpPr>
        <p:spPr>
          <a:xfrm>
            <a:off x="978671" y="295617"/>
            <a:ext cx="1580075" cy="1558866"/>
          </a:xfrm>
          <a:custGeom>
            <a:avLst/>
            <a:gdLst/>
            <a:ahLst/>
            <a:cxnLst/>
            <a:rect l="l" t="t" r="r" b="b"/>
            <a:pathLst>
              <a:path w="1580075" h="1558866">
                <a:moveTo>
                  <a:pt x="0" y="0"/>
                </a:moveTo>
                <a:lnTo>
                  <a:pt x="1580075" y="0"/>
                </a:lnTo>
                <a:lnTo>
                  <a:pt x="1580075" y="1558866"/>
                </a:lnTo>
                <a:lnTo>
                  <a:pt x="0" y="1558866"/>
                </a:lnTo>
                <a:lnTo>
                  <a:pt x="0" y="0"/>
                </a:lnTo>
                <a:close/>
              </a:path>
            </a:pathLst>
          </a:custGeom>
          <a:blipFill>
            <a:blip r:embed="rId2"/>
            <a:stretch>
              <a:fillRect/>
            </a:stretch>
          </a:blipFill>
        </p:spPr>
      </p:sp>
      <p:sp>
        <p:nvSpPr>
          <p:cNvPr id="20" name="Freeform 20"/>
          <p:cNvSpPr/>
          <p:nvPr/>
        </p:nvSpPr>
        <p:spPr>
          <a:xfrm>
            <a:off x="16822359" y="223774"/>
            <a:ext cx="1271953" cy="1630709"/>
          </a:xfrm>
          <a:custGeom>
            <a:avLst/>
            <a:gdLst/>
            <a:ahLst/>
            <a:cxnLst/>
            <a:rect l="l" t="t" r="r" b="b"/>
            <a:pathLst>
              <a:path w="1271953" h="1630709">
                <a:moveTo>
                  <a:pt x="0" y="0"/>
                </a:moveTo>
                <a:lnTo>
                  <a:pt x="1271953" y="0"/>
                </a:lnTo>
                <a:lnTo>
                  <a:pt x="1271953" y="1630709"/>
                </a:lnTo>
                <a:lnTo>
                  <a:pt x="0" y="1630709"/>
                </a:lnTo>
                <a:lnTo>
                  <a:pt x="0" y="0"/>
                </a:lnTo>
                <a:close/>
              </a:path>
            </a:pathLst>
          </a:custGeom>
          <a:blipFill>
            <a:blip r:embed="rId3"/>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160406" y="1736105"/>
            <a:ext cx="13134876" cy="1322151"/>
          </a:xfrm>
          <a:prstGeom prst="rect">
            <a:avLst/>
          </a:prstGeom>
        </p:spPr>
        <p:txBody>
          <a:bodyPr lIns="0" tIns="0" rIns="0" bIns="0" rtlCol="0" anchor="t">
            <a:spAutoFit/>
          </a:bodyPr>
          <a:lstStyle/>
          <a:p>
            <a:pPr algn="l">
              <a:lnSpc>
                <a:spcPts val="9658"/>
              </a:lnSpc>
            </a:pPr>
            <a:r>
              <a:rPr lang="en-US" sz="8472" b="1">
                <a:solidFill>
                  <a:srgbClr val="1C2120"/>
                </a:solidFill>
                <a:latin typeface="Poppins Bold"/>
                <a:ea typeface="Poppins Bold"/>
                <a:cs typeface="Poppins Bold"/>
                <a:sym typeface="Poppins Bold"/>
              </a:rPr>
              <a:t>LITERATURE REVIEW</a:t>
            </a:r>
          </a:p>
        </p:txBody>
      </p:sp>
      <p:sp>
        <p:nvSpPr>
          <p:cNvPr id="3" name="TextBox 3"/>
          <p:cNvSpPr txBox="1"/>
          <p:nvPr/>
        </p:nvSpPr>
        <p:spPr>
          <a:xfrm>
            <a:off x="1458606" y="3747354"/>
            <a:ext cx="15979676" cy="5991225"/>
          </a:xfrm>
          <a:prstGeom prst="rect">
            <a:avLst/>
          </a:prstGeom>
        </p:spPr>
        <p:txBody>
          <a:bodyPr lIns="0" tIns="0" rIns="0" bIns="0" rtlCol="0" anchor="t">
            <a:spAutoFit/>
          </a:bodyPr>
          <a:lstStyle/>
          <a:p>
            <a:pPr marL="755651" lvl="1" indent="-377825" algn="l">
              <a:lnSpc>
                <a:spcPts val="4725"/>
              </a:lnSpc>
              <a:spcBef>
                <a:spcPct val="0"/>
              </a:spcBef>
              <a:buFont typeface="Arial"/>
              <a:buChar char="•"/>
            </a:pPr>
            <a:r>
              <a:rPr lang="en-US" sz="3500" spc="210">
                <a:solidFill>
                  <a:srgbClr val="000000"/>
                </a:solidFill>
                <a:latin typeface="DM Sans"/>
                <a:ea typeface="DM Sans"/>
                <a:cs typeface="DM Sans"/>
                <a:sym typeface="DM Sans"/>
              </a:rPr>
              <a:t>Para</a:t>
            </a:r>
            <a:r>
              <a:rPr lang="en-US" sz="3500" u="none" spc="210">
                <a:solidFill>
                  <a:srgbClr val="000000"/>
                </a:solidFill>
                <a:latin typeface="DM Sans"/>
                <a:ea typeface="DM Sans"/>
                <a:cs typeface="DM Sans"/>
                <a:sym typeface="DM Sans"/>
              </a:rPr>
              <a:t>martha et al. (2023) – TF-IDF + SVM effective for spam filtering.</a:t>
            </a:r>
          </a:p>
          <a:p>
            <a:pPr marL="755651" lvl="1" indent="-377825" algn="l">
              <a:lnSpc>
                <a:spcPts val="4725"/>
              </a:lnSpc>
              <a:spcBef>
                <a:spcPct val="0"/>
              </a:spcBef>
              <a:buFont typeface="Arial"/>
              <a:buChar char="•"/>
            </a:pPr>
            <a:r>
              <a:rPr lang="en-US" sz="3500" u="none" spc="210">
                <a:solidFill>
                  <a:srgbClr val="000000"/>
                </a:solidFill>
                <a:latin typeface="DM Sans"/>
                <a:ea typeface="DM Sans"/>
                <a:cs typeface="DM Sans"/>
                <a:sym typeface="DM Sans"/>
              </a:rPr>
              <a:t>Rizka &amp; Retnowati (2022) – Naïve Bayes performs well for text-based spam.</a:t>
            </a:r>
          </a:p>
          <a:p>
            <a:pPr marL="755651" lvl="1" indent="-377825" algn="l">
              <a:lnSpc>
                <a:spcPts val="4725"/>
              </a:lnSpc>
              <a:spcBef>
                <a:spcPct val="0"/>
              </a:spcBef>
              <a:buFont typeface="Arial"/>
              <a:buChar char="•"/>
            </a:pPr>
            <a:r>
              <a:rPr lang="en-US" sz="3500" u="none" spc="210">
                <a:solidFill>
                  <a:srgbClr val="000000"/>
                </a:solidFill>
                <a:latin typeface="DM Sans"/>
                <a:ea typeface="DM Sans"/>
                <a:cs typeface="DM Sans"/>
                <a:sym typeface="DM Sans"/>
              </a:rPr>
              <a:t>Tida &amp; Hsu (2024) – BERT-based universal spam detection achieved 97% accuracy.</a:t>
            </a:r>
          </a:p>
          <a:p>
            <a:pPr marL="755651" lvl="1" indent="-377825" algn="l">
              <a:lnSpc>
                <a:spcPts val="4725"/>
              </a:lnSpc>
              <a:spcBef>
                <a:spcPct val="0"/>
              </a:spcBef>
              <a:buFont typeface="Arial"/>
              <a:buChar char="•"/>
            </a:pPr>
            <a:r>
              <a:rPr lang="en-US" sz="3500" u="none" spc="210">
                <a:solidFill>
                  <a:srgbClr val="000000"/>
                </a:solidFill>
                <a:latin typeface="DM Sans"/>
                <a:ea typeface="DM Sans"/>
                <a:cs typeface="DM Sans"/>
                <a:sym typeface="DM Sans"/>
              </a:rPr>
              <a:t>Ngigi et al. (2024) – ML models outperform rule-based filters.</a:t>
            </a:r>
          </a:p>
          <a:p>
            <a:pPr marL="755651" lvl="1" indent="-377825" algn="l">
              <a:lnSpc>
                <a:spcPts val="4725"/>
              </a:lnSpc>
              <a:spcBef>
                <a:spcPct val="0"/>
              </a:spcBef>
              <a:buFont typeface="Arial"/>
              <a:buChar char="•"/>
            </a:pPr>
            <a:r>
              <a:rPr lang="en-US" sz="3500" u="none" spc="210">
                <a:solidFill>
                  <a:srgbClr val="000000"/>
                </a:solidFill>
                <a:latin typeface="DM Sans"/>
                <a:ea typeface="DM Sans"/>
                <a:cs typeface="DM Sans"/>
                <a:sym typeface="DM Sans"/>
              </a:rPr>
              <a:t>IIETA Journal (2023) – Deep learning improves precision for email spam classification.</a:t>
            </a:r>
          </a:p>
          <a:p>
            <a:pPr marL="0" lvl="0" indent="0" algn="l">
              <a:lnSpc>
                <a:spcPts val="4725"/>
              </a:lnSpc>
              <a:spcBef>
                <a:spcPct val="0"/>
              </a:spcBef>
            </a:pPr>
            <a:endParaRPr lang="en-US" sz="3500" u="none" spc="210">
              <a:solidFill>
                <a:srgbClr val="000000"/>
              </a:solidFill>
              <a:latin typeface="DM Sans"/>
              <a:ea typeface="DM Sans"/>
              <a:cs typeface="DM Sans"/>
              <a:sym typeface="DM Sans"/>
            </a:endParaRPr>
          </a:p>
        </p:txBody>
      </p:sp>
      <p:sp>
        <p:nvSpPr>
          <p:cNvPr id="4" name="Freeform 4"/>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2"/>
            <a:stretch>
              <a:fillRect/>
            </a:stretch>
          </a:blipFill>
        </p:spPr>
      </p:sp>
      <p:sp>
        <p:nvSpPr>
          <p:cNvPr id="5" name="Freeform 5"/>
          <p:cNvSpPr/>
          <p:nvPr/>
        </p:nvSpPr>
        <p:spPr>
          <a:xfrm>
            <a:off x="16334837" y="295617"/>
            <a:ext cx="1670025" cy="2141058"/>
          </a:xfrm>
          <a:custGeom>
            <a:avLst/>
            <a:gdLst/>
            <a:ahLst/>
            <a:cxnLst/>
            <a:rect l="l" t="t" r="r" b="b"/>
            <a:pathLst>
              <a:path w="1670025" h="2141058">
                <a:moveTo>
                  <a:pt x="0" y="0"/>
                </a:moveTo>
                <a:lnTo>
                  <a:pt x="1670025" y="0"/>
                </a:lnTo>
                <a:lnTo>
                  <a:pt x="1670025" y="2141057"/>
                </a:lnTo>
                <a:lnTo>
                  <a:pt x="0" y="2141057"/>
                </a:lnTo>
                <a:lnTo>
                  <a:pt x="0" y="0"/>
                </a:lnTo>
                <a:close/>
              </a:path>
            </a:pathLst>
          </a:custGeom>
          <a:blipFill>
            <a:blip r:embed="rId3"/>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41734" y="3857999"/>
            <a:ext cx="3363887" cy="5819980"/>
            <a:chOff x="0" y="0"/>
            <a:chExt cx="1017147" cy="1759802"/>
          </a:xfrm>
        </p:grpSpPr>
        <p:sp>
          <p:nvSpPr>
            <p:cNvPr id="3" name="Freeform 3"/>
            <p:cNvSpPr/>
            <p:nvPr/>
          </p:nvSpPr>
          <p:spPr>
            <a:xfrm>
              <a:off x="0" y="0"/>
              <a:ext cx="1017147" cy="1759802"/>
            </a:xfrm>
            <a:custGeom>
              <a:avLst/>
              <a:gdLst/>
              <a:ahLst/>
              <a:cxnLst/>
              <a:rect l="l" t="t" r="r" b="b"/>
              <a:pathLst>
                <a:path w="1017147" h="1759802">
                  <a:moveTo>
                    <a:pt x="0" y="0"/>
                  </a:moveTo>
                  <a:lnTo>
                    <a:pt x="1017147" y="0"/>
                  </a:lnTo>
                  <a:lnTo>
                    <a:pt x="1017147" y="1759802"/>
                  </a:lnTo>
                  <a:lnTo>
                    <a:pt x="0" y="1759802"/>
                  </a:lnTo>
                  <a:close/>
                </a:path>
              </a:pathLst>
            </a:custGeom>
            <a:solidFill>
              <a:srgbClr val="AAD7D4"/>
            </a:solidFill>
          </p:spPr>
        </p:sp>
        <p:sp>
          <p:nvSpPr>
            <p:cNvPr id="4" name="TextBox 4"/>
            <p:cNvSpPr txBox="1"/>
            <p:nvPr/>
          </p:nvSpPr>
          <p:spPr>
            <a:xfrm>
              <a:off x="0" y="-38100"/>
              <a:ext cx="1017147" cy="1797902"/>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664952" y="5496504"/>
            <a:ext cx="3363887" cy="4181475"/>
          </a:xfrm>
          <a:prstGeom prst="rect">
            <a:avLst/>
          </a:prstGeom>
        </p:spPr>
        <p:txBody>
          <a:bodyPr lIns="0" tIns="0" rIns="0" bIns="0" rtlCol="0" anchor="t">
            <a:spAutoFit/>
          </a:bodyPr>
          <a:lstStyle/>
          <a:p>
            <a:pPr marL="539749" lvl="1" indent="-269875" algn="l">
              <a:lnSpc>
                <a:spcPts val="3374"/>
              </a:lnSpc>
              <a:spcBef>
                <a:spcPct val="0"/>
              </a:spcBef>
              <a:buFont typeface="Arial"/>
              <a:buChar char="•"/>
            </a:pPr>
            <a:r>
              <a:rPr lang="en-US" sz="2499" spc="39">
                <a:solidFill>
                  <a:srgbClr val="1C2120"/>
                </a:solidFill>
                <a:latin typeface="DM Sans"/>
                <a:ea typeface="DM Sans"/>
                <a:cs typeface="DM Sans"/>
                <a:sym typeface="DM Sans"/>
              </a:rPr>
              <a:t>T</a:t>
            </a:r>
            <a:r>
              <a:rPr lang="en-US" sz="2499" u="none" spc="39">
                <a:solidFill>
                  <a:srgbClr val="1C2120"/>
                </a:solidFill>
                <a:latin typeface="DM Sans"/>
                <a:ea typeface="DM Sans"/>
                <a:cs typeface="DM Sans"/>
                <a:sym typeface="DM Sans"/>
              </a:rPr>
              <a:t>okenization</a:t>
            </a:r>
          </a:p>
          <a:p>
            <a:pPr marL="539749" lvl="1" indent="-269875" algn="l">
              <a:lnSpc>
                <a:spcPts val="3374"/>
              </a:lnSpc>
              <a:spcBef>
                <a:spcPct val="0"/>
              </a:spcBef>
              <a:buFont typeface="Arial"/>
              <a:buChar char="•"/>
            </a:pPr>
            <a:r>
              <a:rPr lang="en-US" sz="2499" u="none" spc="39">
                <a:solidFill>
                  <a:srgbClr val="1C2120"/>
                </a:solidFill>
                <a:latin typeface="DM Sans"/>
                <a:ea typeface="DM Sans"/>
                <a:cs typeface="DM Sans"/>
                <a:sym typeface="DM Sans"/>
              </a:rPr>
              <a:t>Stopword Removal</a:t>
            </a:r>
          </a:p>
          <a:p>
            <a:pPr marL="539749" lvl="1" indent="-269875" algn="l">
              <a:lnSpc>
                <a:spcPts val="3374"/>
              </a:lnSpc>
              <a:spcBef>
                <a:spcPct val="0"/>
              </a:spcBef>
              <a:buFont typeface="Arial"/>
              <a:buChar char="•"/>
            </a:pPr>
            <a:r>
              <a:rPr lang="en-US" sz="2499" u="none" spc="39">
                <a:solidFill>
                  <a:srgbClr val="1C2120"/>
                </a:solidFill>
                <a:latin typeface="DM Sans"/>
                <a:ea typeface="DM Sans"/>
                <a:cs typeface="DM Sans"/>
                <a:sym typeface="DM Sans"/>
              </a:rPr>
              <a:t>Stemming (Snowball)</a:t>
            </a:r>
          </a:p>
          <a:p>
            <a:pPr marL="539749" lvl="1" indent="-269875" algn="l">
              <a:lnSpc>
                <a:spcPts val="3374"/>
              </a:lnSpc>
              <a:spcBef>
                <a:spcPct val="0"/>
              </a:spcBef>
              <a:buFont typeface="Arial"/>
              <a:buChar char="•"/>
            </a:pPr>
            <a:r>
              <a:rPr lang="en-US" sz="2499" u="none" spc="39">
                <a:solidFill>
                  <a:srgbClr val="1C2120"/>
                </a:solidFill>
                <a:latin typeface="DM Sans"/>
                <a:ea typeface="DM Sans"/>
                <a:cs typeface="DM Sans"/>
                <a:sym typeface="DM Sans"/>
              </a:rPr>
              <a:t>TF-IDF Feature Extraction</a:t>
            </a:r>
          </a:p>
          <a:p>
            <a:pPr marL="539749" lvl="1" indent="-269875" algn="l">
              <a:lnSpc>
                <a:spcPts val="3374"/>
              </a:lnSpc>
              <a:spcBef>
                <a:spcPct val="0"/>
              </a:spcBef>
              <a:buFont typeface="Arial"/>
              <a:buChar char="•"/>
            </a:pPr>
            <a:r>
              <a:rPr lang="en-US" sz="2499" u="none" spc="39">
                <a:solidFill>
                  <a:srgbClr val="1C2120"/>
                </a:solidFill>
                <a:latin typeface="DM Sans"/>
                <a:ea typeface="DM Sans"/>
                <a:cs typeface="DM Sans"/>
                <a:sym typeface="DM Sans"/>
              </a:rPr>
              <a:t>Corpus Cleaning (tm package in R)</a:t>
            </a:r>
          </a:p>
          <a:p>
            <a:pPr marL="0" lvl="0" indent="0" algn="l">
              <a:lnSpc>
                <a:spcPts val="3374"/>
              </a:lnSpc>
              <a:spcBef>
                <a:spcPct val="0"/>
              </a:spcBef>
            </a:pPr>
            <a:endParaRPr lang="en-US" sz="2499" u="none" spc="39">
              <a:solidFill>
                <a:srgbClr val="1C2120"/>
              </a:solidFill>
              <a:latin typeface="DM Sans"/>
              <a:ea typeface="DM Sans"/>
              <a:cs typeface="DM Sans"/>
              <a:sym typeface="DM Sans"/>
            </a:endParaRPr>
          </a:p>
        </p:txBody>
      </p:sp>
      <p:sp>
        <p:nvSpPr>
          <p:cNvPr id="6" name="TextBox 6"/>
          <p:cNvSpPr txBox="1"/>
          <p:nvPr/>
        </p:nvSpPr>
        <p:spPr>
          <a:xfrm>
            <a:off x="1984358" y="4172366"/>
            <a:ext cx="2725076" cy="996315"/>
          </a:xfrm>
          <a:prstGeom prst="rect">
            <a:avLst/>
          </a:prstGeom>
        </p:spPr>
        <p:txBody>
          <a:bodyPr lIns="0" tIns="0" rIns="0" bIns="0" rtlCol="0" anchor="t">
            <a:spAutoFit/>
          </a:bodyPr>
          <a:lstStyle/>
          <a:p>
            <a:pPr algn="l">
              <a:lnSpc>
                <a:spcPts val="3780"/>
              </a:lnSpc>
            </a:pPr>
            <a:r>
              <a:rPr lang="en-US" sz="3500" b="1">
                <a:solidFill>
                  <a:srgbClr val="1C2120"/>
                </a:solidFill>
                <a:latin typeface="Poppins Bold"/>
                <a:ea typeface="Poppins Bold"/>
                <a:cs typeface="Poppins Bold"/>
                <a:sym typeface="Poppins Bold"/>
              </a:rPr>
              <a:t>Text Mining Techniques </a:t>
            </a:r>
          </a:p>
        </p:txBody>
      </p:sp>
      <p:sp>
        <p:nvSpPr>
          <p:cNvPr id="7" name="TextBox 7"/>
          <p:cNvSpPr txBox="1"/>
          <p:nvPr/>
        </p:nvSpPr>
        <p:spPr>
          <a:xfrm>
            <a:off x="3465896" y="1254719"/>
            <a:ext cx="10467208" cy="947854"/>
          </a:xfrm>
          <a:prstGeom prst="rect">
            <a:avLst/>
          </a:prstGeom>
        </p:spPr>
        <p:txBody>
          <a:bodyPr lIns="0" tIns="0" rIns="0" bIns="0" rtlCol="0" anchor="t">
            <a:spAutoFit/>
          </a:bodyPr>
          <a:lstStyle/>
          <a:p>
            <a:pPr algn="ctr">
              <a:lnSpc>
                <a:spcPts val="6596"/>
              </a:lnSpc>
            </a:pPr>
            <a:r>
              <a:rPr lang="en-US" sz="6800" b="1">
                <a:solidFill>
                  <a:srgbClr val="1C2120"/>
                </a:solidFill>
                <a:latin typeface="Poppins Bold"/>
                <a:ea typeface="Poppins Bold"/>
                <a:cs typeface="Poppins Bold"/>
                <a:sym typeface="Poppins Bold"/>
              </a:rPr>
              <a:t>Techniques to Be Used</a:t>
            </a:r>
          </a:p>
        </p:txBody>
      </p:sp>
      <p:grpSp>
        <p:nvGrpSpPr>
          <p:cNvPr id="8" name="Group 8"/>
          <p:cNvGrpSpPr/>
          <p:nvPr/>
        </p:nvGrpSpPr>
        <p:grpSpPr>
          <a:xfrm>
            <a:off x="7395484" y="3857999"/>
            <a:ext cx="3363887" cy="5819980"/>
            <a:chOff x="0" y="0"/>
            <a:chExt cx="1017147" cy="1759802"/>
          </a:xfrm>
        </p:grpSpPr>
        <p:sp>
          <p:nvSpPr>
            <p:cNvPr id="9" name="Freeform 9"/>
            <p:cNvSpPr/>
            <p:nvPr/>
          </p:nvSpPr>
          <p:spPr>
            <a:xfrm>
              <a:off x="0" y="0"/>
              <a:ext cx="1017147" cy="1759802"/>
            </a:xfrm>
            <a:custGeom>
              <a:avLst/>
              <a:gdLst/>
              <a:ahLst/>
              <a:cxnLst/>
              <a:rect l="l" t="t" r="r" b="b"/>
              <a:pathLst>
                <a:path w="1017147" h="1759802">
                  <a:moveTo>
                    <a:pt x="0" y="0"/>
                  </a:moveTo>
                  <a:lnTo>
                    <a:pt x="1017147" y="0"/>
                  </a:lnTo>
                  <a:lnTo>
                    <a:pt x="1017147" y="1759802"/>
                  </a:lnTo>
                  <a:lnTo>
                    <a:pt x="0" y="1759802"/>
                  </a:lnTo>
                  <a:close/>
                </a:path>
              </a:pathLst>
            </a:custGeom>
            <a:solidFill>
              <a:srgbClr val="AAD7D4"/>
            </a:solidFill>
          </p:spPr>
        </p:sp>
        <p:sp>
          <p:nvSpPr>
            <p:cNvPr id="10" name="TextBox 10"/>
            <p:cNvSpPr txBox="1"/>
            <p:nvPr/>
          </p:nvSpPr>
          <p:spPr>
            <a:xfrm>
              <a:off x="0" y="-38100"/>
              <a:ext cx="1017147" cy="1797902"/>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3442552" y="3857999"/>
            <a:ext cx="3363887" cy="5819980"/>
            <a:chOff x="0" y="0"/>
            <a:chExt cx="1017147" cy="1759802"/>
          </a:xfrm>
        </p:grpSpPr>
        <p:sp>
          <p:nvSpPr>
            <p:cNvPr id="12" name="Freeform 12"/>
            <p:cNvSpPr/>
            <p:nvPr/>
          </p:nvSpPr>
          <p:spPr>
            <a:xfrm>
              <a:off x="0" y="0"/>
              <a:ext cx="1017147" cy="1759802"/>
            </a:xfrm>
            <a:custGeom>
              <a:avLst/>
              <a:gdLst/>
              <a:ahLst/>
              <a:cxnLst/>
              <a:rect l="l" t="t" r="r" b="b"/>
              <a:pathLst>
                <a:path w="1017147" h="1759802">
                  <a:moveTo>
                    <a:pt x="0" y="0"/>
                  </a:moveTo>
                  <a:lnTo>
                    <a:pt x="1017147" y="0"/>
                  </a:lnTo>
                  <a:lnTo>
                    <a:pt x="1017147" y="1759802"/>
                  </a:lnTo>
                  <a:lnTo>
                    <a:pt x="0" y="1759802"/>
                  </a:lnTo>
                  <a:close/>
                </a:path>
              </a:pathLst>
            </a:custGeom>
            <a:solidFill>
              <a:srgbClr val="AAD7D4"/>
            </a:solidFill>
          </p:spPr>
        </p:sp>
        <p:sp>
          <p:nvSpPr>
            <p:cNvPr id="13" name="TextBox 13"/>
            <p:cNvSpPr txBox="1"/>
            <p:nvPr/>
          </p:nvSpPr>
          <p:spPr>
            <a:xfrm>
              <a:off x="0" y="-38100"/>
              <a:ext cx="1017147" cy="1797902"/>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984358" y="2827394"/>
            <a:ext cx="3830776" cy="668655"/>
          </a:xfrm>
          <a:prstGeom prst="rect">
            <a:avLst/>
          </a:prstGeom>
        </p:spPr>
        <p:txBody>
          <a:bodyPr lIns="0" tIns="0" rIns="0" bIns="0" rtlCol="0" anchor="t">
            <a:spAutoFit/>
          </a:bodyPr>
          <a:lstStyle/>
          <a:p>
            <a:pPr algn="l">
              <a:lnSpc>
                <a:spcPts val="4860"/>
              </a:lnSpc>
            </a:pPr>
            <a:r>
              <a:rPr lang="en-US" sz="4500" b="1">
                <a:solidFill>
                  <a:srgbClr val="1C2120"/>
                </a:solidFill>
                <a:latin typeface="Poppins Bold"/>
                <a:ea typeface="Poppins Bold"/>
                <a:cs typeface="Poppins Bold"/>
                <a:sym typeface="Poppins Bold"/>
              </a:rPr>
              <a:t>MODULE-1</a:t>
            </a:r>
          </a:p>
        </p:txBody>
      </p:sp>
      <p:sp>
        <p:nvSpPr>
          <p:cNvPr id="15" name="TextBox 15"/>
          <p:cNvSpPr txBox="1"/>
          <p:nvPr/>
        </p:nvSpPr>
        <p:spPr>
          <a:xfrm>
            <a:off x="7713455" y="2853142"/>
            <a:ext cx="3830776" cy="668655"/>
          </a:xfrm>
          <a:prstGeom prst="rect">
            <a:avLst/>
          </a:prstGeom>
        </p:spPr>
        <p:txBody>
          <a:bodyPr lIns="0" tIns="0" rIns="0" bIns="0" rtlCol="0" anchor="t">
            <a:spAutoFit/>
          </a:bodyPr>
          <a:lstStyle/>
          <a:p>
            <a:pPr algn="l">
              <a:lnSpc>
                <a:spcPts val="4860"/>
              </a:lnSpc>
            </a:pPr>
            <a:r>
              <a:rPr lang="en-US" sz="4500" b="1">
                <a:solidFill>
                  <a:srgbClr val="1C2120"/>
                </a:solidFill>
                <a:latin typeface="Poppins Bold"/>
                <a:ea typeface="Poppins Bold"/>
                <a:cs typeface="Poppins Bold"/>
                <a:sym typeface="Poppins Bold"/>
              </a:rPr>
              <a:t>MODULE-2</a:t>
            </a:r>
          </a:p>
        </p:txBody>
      </p:sp>
      <p:sp>
        <p:nvSpPr>
          <p:cNvPr id="16" name="TextBox 16"/>
          <p:cNvSpPr txBox="1"/>
          <p:nvPr/>
        </p:nvSpPr>
        <p:spPr>
          <a:xfrm>
            <a:off x="13442552" y="2827394"/>
            <a:ext cx="3830776" cy="668655"/>
          </a:xfrm>
          <a:prstGeom prst="rect">
            <a:avLst/>
          </a:prstGeom>
        </p:spPr>
        <p:txBody>
          <a:bodyPr lIns="0" tIns="0" rIns="0" bIns="0" rtlCol="0" anchor="t">
            <a:spAutoFit/>
          </a:bodyPr>
          <a:lstStyle/>
          <a:p>
            <a:pPr algn="l">
              <a:lnSpc>
                <a:spcPts val="4860"/>
              </a:lnSpc>
            </a:pPr>
            <a:r>
              <a:rPr lang="en-US" sz="4500" b="1">
                <a:solidFill>
                  <a:srgbClr val="1C2120"/>
                </a:solidFill>
                <a:latin typeface="Poppins Bold"/>
                <a:ea typeface="Poppins Bold"/>
                <a:cs typeface="Poppins Bold"/>
                <a:sym typeface="Poppins Bold"/>
              </a:rPr>
              <a:t>MODULE-3</a:t>
            </a:r>
          </a:p>
        </p:txBody>
      </p:sp>
      <p:sp>
        <p:nvSpPr>
          <p:cNvPr id="17" name="TextBox 17"/>
          <p:cNvSpPr txBox="1"/>
          <p:nvPr/>
        </p:nvSpPr>
        <p:spPr>
          <a:xfrm>
            <a:off x="7781462" y="4172366"/>
            <a:ext cx="2725076" cy="996315"/>
          </a:xfrm>
          <a:prstGeom prst="rect">
            <a:avLst/>
          </a:prstGeom>
        </p:spPr>
        <p:txBody>
          <a:bodyPr lIns="0" tIns="0" rIns="0" bIns="0" rtlCol="0" anchor="t">
            <a:spAutoFit/>
          </a:bodyPr>
          <a:lstStyle/>
          <a:p>
            <a:pPr algn="l">
              <a:lnSpc>
                <a:spcPts val="3780"/>
              </a:lnSpc>
            </a:pPr>
            <a:r>
              <a:rPr lang="en-US" sz="3500" b="1">
                <a:solidFill>
                  <a:srgbClr val="1C2120"/>
                </a:solidFill>
                <a:latin typeface="Poppins Bold"/>
                <a:ea typeface="Poppins Bold"/>
                <a:cs typeface="Poppins Bold"/>
                <a:sym typeface="Poppins Bold"/>
              </a:rPr>
              <a:t>Classification Models </a:t>
            </a:r>
          </a:p>
        </p:txBody>
      </p:sp>
      <p:sp>
        <p:nvSpPr>
          <p:cNvPr id="18" name="TextBox 18"/>
          <p:cNvSpPr txBox="1"/>
          <p:nvPr/>
        </p:nvSpPr>
        <p:spPr>
          <a:xfrm>
            <a:off x="13761958" y="4172366"/>
            <a:ext cx="2725076" cy="520065"/>
          </a:xfrm>
          <a:prstGeom prst="rect">
            <a:avLst/>
          </a:prstGeom>
        </p:spPr>
        <p:txBody>
          <a:bodyPr lIns="0" tIns="0" rIns="0" bIns="0" rtlCol="0" anchor="t">
            <a:spAutoFit/>
          </a:bodyPr>
          <a:lstStyle/>
          <a:p>
            <a:pPr algn="l">
              <a:lnSpc>
                <a:spcPts val="3780"/>
              </a:lnSpc>
            </a:pPr>
            <a:r>
              <a:rPr lang="en-US" sz="3500" b="1">
                <a:solidFill>
                  <a:srgbClr val="1C2120"/>
                </a:solidFill>
                <a:latin typeface="Poppins Bold"/>
                <a:ea typeface="Poppins Bold"/>
                <a:cs typeface="Poppins Bold"/>
                <a:sym typeface="Poppins Bold"/>
              </a:rPr>
              <a:t>Evaluation</a:t>
            </a:r>
          </a:p>
        </p:txBody>
      </p:sp>
      <p:sp>
        <p:nvSpPr>
          <p:cNvPr id="19" name="TextBox 19"/>
          <p:cNvSpPr txBox="1"/>
          <p:nvPr/>
        </p:nvSpPr>
        <p:spPr>
          <a:xfrm>
            <a:off x="7462056" y="5749706"/>
            <a:ext cx="3363887" cy="3343275"/>
          </a:xfrm>
          <a:prstGeom prst="rect">
            <a:avLst/>
          </a:prstGeom>
        </p:spPr>
        <p:txBody>
          <a:bodyPr lIns="0" tIns="0" rIns="0" bIns="0" rtlCol="0" anchor="t">
            <a:spAutoFit/>
          </a:bodyPr>
          <a:lstStyle/>
          <a:p>
            <a:pPr marL="539749" lvl="1" indent="-269875" algn="l">
              <a:lnSpc>
                <a:spcPts val="3374"/>
              </a:lnSpc>
              <a:spcBef>
                <a:spcPct val="0"/>
              </a:spcBef>
              <a:buFont typeface="Arial"/>
              <a:buChar char="•"/>
            </a:pPr>
            <a:r>
              <a:rPr lang="en-US" sz="2499" spc="39">
                <a:solidFill>
                  <a:srgbClr val="1C2120"/>
                </a:solidFill>
                <a:latin typeface="DM Sans"/>
                <a:ea typeface="DM Sans"/>
                <a:cs typeface="DM Sans"/>
                <a:sym typeface="DM Sans"/>
              </a:rPr>
              <a:t>Naïv</a:t>
            </a:r>
            <a:r>
              <a:rPr lang="en-US" sz="2499" u="none" spc="39">
                <a:solidFill>
                  <a:srgbClr val="1C2120"/>
                </a:solidFill>
                <a:latin typeface="DM Sans"/>
                <a:ea typeface="DM Sans"/>
                <a:cs typeface="DM Sans"/>
                <a:sym typeface="DM Sans"/>
              </a:rPr>
              <a:t>e Bayes (e1071)</a:t>
            </a:r>
          </a:p>
          <a:p>
            <a:pPr marL="539749" lvl="1" indent="-269875" algn="l">
              <a:lnSpc>
                <a:spcPts val="3374"/>
              </a:lnSpc>
              <a:spcBef>
                <a:spcPct val="0"/>
              </a:spcBef>
              <a:buFont typeface="Arial"/>
              <a:buChar char="•"/>
            </a:pPr>
            <a:r>
              <a:rPr lang="en-US" sz="2499" u="none" spc="39">
                <a:solidFill>
                  <a:srgbClr val="1C2120"/>
                </a:solidFill>
                <a:latin typeface="DM Sans"/>
                <a:ea typeface="DM Sans"/>
                <a:cs typeface="DM Sans"/>
                <a:sym typeface="DM Sans"/>
              </a:rPr>
              <a:t>Support Vector Machine (SVM)</a:t>
            </a:r>
          </a:p>
          <a:p>
            <a:pPr marL="539749" lvl="1" indent="-269875" algn="l">
              <a:lnSpc>
                <a:spcPts val="3374"/>
              </a:lnSpc>
              <a:spcBef>
                <a:spcPct val="0"/>
              </a:spcBef>
              <a:buFont typeface="Arial"/>
              <a:buChar char="•"/>
            </a:pPr>
            <a:r>
              <a:rPr lang="en-US" sz="2499" u="none" spc="39">
                <a:solidFill>
                  <a:srgbClr val="1C2120"/>
                </a:solidFill>
                <a:latin typeface="DM Sans"/>
                <a:ea typeface="DM Sans"/>
                <a:cs typeface="DM Sans"/>
                <a:sym typeface="DM Sans"/>
              </a:rPr>
              <a:t>Comparison of model performance</a:t>
            </a:r>
          </a:p>
          <a:p>
            <a:pPr marL="0" lvl="0" indent="0" algn="l">
              <a:lnSpc>
                <a:spcPts val="3374"/>
              </a:lnSpc>
              <a:spcBef>
                <a:spcPct val="0"/>
              </a:spcBef>
            </a:pPr>
            <a:endParaRPr lang="en-US" sz="2499" u="none" spc="39">
              <a:solidFill>
                <a:srgbClr val="1C2120"/>
              </a:solidFill>
              <a:latin typeface="DM Sans"/>
              <a:ea typeface="DM Sans"/>
              <a:cs typeface="DM Sans"/>
              <a:sym typeface="DM Sans"/>
            </a:endParaRPr>
          </a:p>
        </p:txBody>
      </p:sp>
      <p:sp>
        <p:nvSpPr>
          <p:cNvPr id="20" name="TextBox 20"/>
          <p:cNvSpPr txBox="1"/>
          <p:nvPr/>
        </p:nvSpPr>
        <p:spPr>
          <a:xfrm>
            <a:off x="13442552" y="5496504"/>
            <a:ext cx="3363887" cy="3343275"/>
          </a:xfrm>
          <a:prstGeom prst="rect">
            <a:avLst/>
          </a:prstGeom>
        </p:spPr>
        <p:txBody>
          <a:bodyPr lIns="0" tIns="0" rIns="0" bIns="0" rtlCol="0" anchor="t">
            <a:spAutoFit/>
          </a:bodyPr>
          <a:lstStyle/>
          <a:p>
            <a:pPr marL="539749" lvl="1" indent="-269875" algn="just">
              <a:lnSpc>
                <a:spcPts val="3374"/>
              </a:lnSpc>
              <a:buFont typeface="Arial"/>
              <a:buChar char="•"/>
            </a:pPr>
            <a:r>
              <a:rPr lang="en-US" sz="2499" spc="39">
                <a:solidFill>
                  <a:srgbClr val="1C2120"/>
                </a:solidFill>
                <a:latin typeface="DM Sans"/>
                <a:ea typeface="DM Sans"/>
                <a:cs typeface="DM Sans"/>
                <a:sym typeface="DM Sans"/>
              </a:rPr>
              <a:t>Accuracy</a:t>
            </a:r>
          </a:p>
          <a:p>
            <a:pPr marL="539749" lvl="1" indent="-269875" algn="just">
              <a:lnSpc>
                <a:spcPts val="3374"/>
              </a:lnSpc>
              <a:spcBef>
                <a:spcPct val="0"/>
              </a:spcBef>
              <a:buFont typeface="Arial"/>
              <a:buChar char="•"/>
            </a:pPr>
            <a:r>
              <a:rPr lang="en-US" sz="2499" spc="39">
                <a:solidFill>
                  <a:srgbClr val="1C2120"/>
                </a:solidFill>
                <a:latin typeface="DM Sans"/>
                <a:ea typeface="DM Sans"/>
                <a:cs typeface="DM Sans"/>
                <a:sym typeface="DM Sans"/>
              </a:rPr>
              <a:t>Pr</a:t>
            </a:r>
            <a:r>
              <a:rPr lang="en-US" sz="2499" u="none" spc="39">
                <a:solidFill>
                  <a:srgbClr val="1C2120"/>
                </a:solidFill>
                <a:latin typeface="DM Sans"/>
                <a:ea typeface="DM Sans"/>
                <a:cs typeface="DM Sans"/>
                <a:sym typeface="DM Sans"/>
              </a:rPr>
              <a:t>ecision</a:t>
            </a:r>
          </a:p>
          <a:p>
            <a:pPr marL="539749" lvl="1" indent="-269875" algn="just">
              <a:lnSpc>
                <a:spcPts val="3374"/>
              </a:lnSpc>
              <a:spcBef>
                <a:spcPct val="0"/>
              </a:spcBef>
              <a:buFont typeface="Arial"/>
              <a:buChar char="•"/>
            </a:pPr>
            <a:r>
              <a:rPr lang="en-US" sz="2499" u="none" spc="39">
                <a:solidFill>
                  <a:srgbClr val="1C2120"/>
                </a:solidFill>
                <a:latin typeface="DM Sans"/>
                <a:ea typeface="DM Sans"/>
                <a:cs typeface="DM Sans"/>
                <a:sym typeface="DM Sans"/>
              </a:rPr>
              <a:t>Recall</a:t>
            </a:r>
          </a:p>
          <a:p>
            <a:pPr marL="539749" lvl="1" indent="-269875" algn="just">
              <a:lnSpc>
                <a:spcPts val="3374"/>
              </a:lnSpc>
              <a:spcBef>
                <a:spcPct val="0"/>
              </a:spcBef>
              <a:buFont typeface="Arial"/>
              <a:buChar char="•"/>
            </a:pPr>
            <a:r>
              <a:rPr lang="en-US" sz="2499" u="none" spc="39">
                <a:solidFill>
                  <a:srgbClr val="1C2120"/>
                </a:solidFill>
                <a:latin typeface="DM Sans"/>
                <a:ea typeface="DM Sans"/>
                <a:cs typeface="DM Sans"/>
                <a:sym typeface="DM Sans"/>
              </a:rPr>
              <a:t>F1-score</a:t>
            </a:r>
          </a:p>
          <a:p>
            <a:pPr marL="539749" lvl="1" indent="-269875" algn="just">
              <a:lnSpc>
                <a:spcPts val="3374"/>
              </a:lnSpc>
              <a:spcBef>
                <a:spcPct val="0"/>
              </a:spcBef>
              <a:buFont typeface="Arial"/>
              <a:buChar char="•"/>
            </a:pPr>
            <a:r>
              <a:rPr lang="en-US" sz="2499" u="none" spc="39">
                <a:solidFill>
                  <a:srgbClr val="1C2120"/>
                </a:solidFill>
                <a:latin typeface="DM Sans"/>
                <a:ea typeface="DM Sans"/>
                <a:cs typeface="DM Sans"/>
                <a:sym typeface="DM Sans"/>
              </a:rPr>
              <a:t>Confusion Matrix</a:t>
            </a:r>
          </a:p>
          <a:p>
            <a:pPr marL="539749" lvl="1" indent="-269875" algn="just">
              <a:lnSpc>
                <a:spcPts val="3374"/>
              </a:lnSpc>
              <a:spcBef>
                <a:spcPct val="0"/>
              </a:spcBef>
              <a:buFont typeface="Arial"/>
              <a:buChar char="•"/>
            </a:pPr>
            <a:r>
              <a:rPr lang="en-US" sz="2499" u="none" spc="39">
                <a:solidFill>
                  <a:srgbClr val="1C2120"/>
                </a:solidFill>
                <a:latin typeface="DM Sans"/>
                <a:ea typeface="DM Sans"/>
                <a:cs typeface="DM Sans"/>
                <a:sym typeface="DM Sans"/>
              </a:rPr>
              <a:t>Model Optimization</a:t>
            </a:r>
          </a:p>
          <a:p>
            <a:pPr marL="0" lvl="0" indent="0" algn="just">
              <a:lnSpc>
                <a:spcPts val="3374"/>
              </a:lnSpc>
              <a:spcBef>
                <a:spcPct val="0"/>
              </a:spcBef>
            </a:pPr>
            <a:endParaRPr lang="en-US" sz="2499" u="none" spc="39">
              <a:solidFill>
                <a:srgbClr val="1C2120"/>
              </a:solidFill>
              <a:latin typeface="DM Sans"/>
              <a:ea typeface="DM Sans"/>
              <a:cs typeface="DM Sans"/>
              <a:sym typeface="DM Sans"/>
            </a:endParaRPr>
          </a:p>
        </p:txBody>
      </p:sp>
      <p:sp>
        <p:nvSpPr>
          <p:cNvPr id="21" name="Freeform 21"/>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2"/>
            <a:stretch>
              <a:fillRect/>
            </a:stretch>
          </a:blipFill>
        </p:spPr>
      </p:sp>
      <p:sp>
        <p:nvSpPr>
          <p:cNvPr id="22" name="Freeform 22"/>
          <p:cNvSpPr/>
          <p:nvPr/>
        </p:nvSpPr>
        <p:spPr>
          <a:xfrm>
            <a:off x="16334837" y="295617"/>
            <a:ext cx="1670025" cy="2141058"/>
          </a:xfrm>
          <a:custGeom>
            <a:avLst/>
            <a:gdLst/>
            <a:ahLst/>
            <a:cxnLst/>
            <a:rect l="l" t="t" r="r" b="b"/>
            <a:pathLst>
              <a:path w="1670025" h="2141058">
                <a:moveTo>
                  <a:pt x="0" y="0"/>
                </a:moveTo>
                <a:lnTo>
                  <a:pt x="1670025" y="0"/>
                </a:lnTo>
                <a:lnTo>
                  <a:pt x="1670025" y="2141057"/>
                </a:lnTo>
                <a:lnTo>
                  <a:pt x="0" y="2141057"/>
                </a:lnTo>
                <a:lnTo>
                  <a:pt x="0" y="0"/>
                </a:lnTo>
                <a:close/>
              </a:path>
            </a:pathLst>
          </a:custGeom>
          <a:blipFill>
            <a:blip r:embed="rId3"/>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2" name="Freeform 2"/>
          <p:cNvSpPr/>
          <p:nvPr/>
        </p:nvSpPr>
        <p:spPr>
          <a:xfrm>
            <a:off x="728610" y="2598370"/>
            <a:ext cx="5855779" cy="5855779"/>
          </a:xfrm>
          <a:custGeom>
            <a:avLst/>
            <a:gdLst/>
            <a:ahLst/>
            <a:cxnLst/>
            <a:rect l="l" t="t" r="r" b="b"/>
            <a:pathLst>
              <a:path w="5855779" h="5855779">
                <a:moveTo>
                  <a:pt x="0" y="0"/>
                </a:moveTo>
                <a:lnTo>
                  <a:pt x="5855779" y="0"/>
                </a:lnTo>
                <a:lnTo>
                  <a:pt x="5855779" y="5855779"/>
                </a:lnTo>
                <a:lnTo>
                  <a:pt x="0" y="58557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rot="5400000">
            <a:off x="-2742935" y="674860"/>
            <a:ext cx="12798869" cy="8937280"/>
            <a:chOff x="0" y="0"/>
            <a:chExt cx="660400" cy="461149"/>
          </a:xfrm>
        </p:grpSpPr>
        <p:sp>
          <p:nvSpPr>
            <p:cNvPr id="4" name="Freeform 4"/>
            <p:cNvSpPr/>
            <p:nvPr/>
          </p:nvSpPr>
          <p:spPr>
            <a:xfrm>
              <a:off x="0" y="0"/>
              <a:ext cx="660400" cy="461149"/>
            </a:xfrm>
            <a:custGeom>
              <a:avLst/>
              <a:gdLst/>
              <a:ahLst/>
              <a:cxnLst/>
              <a:rect l="l" t="t" r="r" b="b"/>
              <a:pathLst>
                <a:path w="660400" h="461149">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0691"/>
                  </a:cubicBezTo>
                  <a:lnTo>
                    <a:pt x="660400" y="461149"/>
                  </a:lnTo>
                  <a:lnTo>
                    <a:pt x="0" y="461149"/>
                  </a:lnTo>
                  <a:lnTo>
                    <a:pt x="0" y="320795"/>
                  </a:lnTo>
                  <a:cubicBezTo>
                    <a:pt x="1782" y="185660"/>
                    <a:pt x="93019" y="64045"/>
                    <a:pt x="220252" y="19070"/>
                  </a:cubicBezTo>
                  <a:close/>
                </a:path>
              </a:pathLst>
            </a:custGeom>
            <a:solidFill>
              <a:srgbClr val="000000">
                <a:alpha val="0"/>
              </a:srgbClr>
            </a:solidFill>
            <a:ln w="66675" cap="sq">
              <a:solidFill>
                <a:srgbClr val="BEC8DA"/>
              </a:solidFill>
              <a:prstDash val="solid"/>
              <a:miter/>
            </a:ln>
          </p:spPr>
        </p:sp>
        <p:sp>
          <p:nvSpPr>
            <p:cNvPr id="5" name="TextBox 5"/>
            <p:cNvSpPr txBox="1"/>
            <p:nvPr/>
          </p:nvSpPr>
          <p:spPr>
            <a:xfrm>
              <a:off x="0" y="88900"/>
              <a:ext cx="660400" cy="372249"/>
            </a:xfrm>
            <a:prstGeom prst="rect">
              <a:avLst/>
            </a:prstGeom>
          </p:spPr>
          <p:txBody>
            <a:bodyPr lIns="50800" tIns="50800" rIns="50800" bIns="50800" rtlCol="0" anchor="ctr"/>
            <a:lstStyle/>
            <a:p>
              <a:pPr algn="ctr">
                <a:lnSpc>
                  <a:spcPts val="2940"/>
                </a:lnSpc>
              </a:pPr>
              <a:endParaRPr/>
            </a:p>
          </p:txBody>
        </p:sp>
      </p:grpSp>
      <p:grpSp>
        <p:nvGrpSpPr>
          <p:cNvPr id="6" name="Group 6"/>
          <p:cNvGrpSpPr/>
          <p:nvPr/>
        </p:nvGrpSpPr>
        <p:grpSpPr>
          <a:xfrm>
            <a:off x="728610" y="2312620"/>
            <a:ext cx="5855779" cy="585577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a:off x="6584389" y="1188990"/>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6584389" y="1099966"/>
            <a:ext cx="1216244" cy="121624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359"/>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3" name="Freeform 13"/>
          <p:cNvSpPr/>
          <p:nvPr/>
        </p:nvSpPr>
        <p:spPr>
          <a:xfrm>
            <a:off x="7197129" y="6351882"/>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7197129" y="6262859"/>
            <a:ext cx="1216244" cy="121624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8D55"/>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7" name="Freeform 17"/>
          <p:cNvSpPr/>
          <p:nvPr/>
        </p:nvSpPr>
        <p:spPr>
          <a:xfrm>
            <a:off x="7197129" y="2810927"/>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4"/>
                </a:ext>
              </a:extLst>
            </a:blip>
            <a:stretch>
              <a:fillRect/>
            </a:stretch>
          </a:blipFill>
        </p:spPr>
      </p:sp>
      <p:grpSp>
        <p:nvGrpSpPr>
          <p:cNvPr id="18" name="Group 18"/>
          <p:cNvGrpSpPr/>
          <p:nvPr/>
        </p:nvGrpSpPr>
        <p:grpSpPr>
          <a:xfrm>
            <a:off x="7197129" y="2721904"/>
            <a:ext cx="1216244" cy="1216244"/>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D6298"/>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1" name="Freeform 21"/>
          <p:cNvSpPr/>
          <p:nvPr/>
        </p:nvSpPr>
        <p:spPr>
          <a:xfrm>
            <a:off x="6584389" y="7970790"/>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4"/>
                </a:ext>
              </a:extLst>
            </a:blip>
            <a:stretch>
              <a:fillRect/>
            </a:stretch>
          </a:blipFill>
        </p:spPr>
      </p:sp>
      <p:grpSp>
        <p:nvGrpSpPr>
          <p:cNvPr id="22" name="Group 22"/>
          <p:cNvGrpSpPr/>
          <p:nvPr/>
        </p:nvGrpSpPr>
        <p:grpSpPr>
          <a:xfrm>
            <a:off x="6584389" y="7881766"/>
            <a:ext cx="1216244" cy="1216244"/>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7DED6"/>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5" name="Freeform 25"/>
          <p:cNvSpPr/>
          <p:nvPr/>
        </p:nvSpPr>
        <p:spPr>
          <a:xfrm>
            <a:off x="7601661" y="4579890"/>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4"/>
                </a:ext>
              </a:extLst>
            </a:blip>
            <a:stretch>
              <a:fillRect/>
            </a:stretch>
          </a:blipFill>
        </p:spPr>
      </p:sp>
      <p:grpSp>
        <p:nvGrpSpPr>
          <p:cNvPr id="26" name="Group 26"/>
          <p:cNvGrpSpPr/>
          <p:nvPr/>
        </p:nvGrpSpPr>
        <p:grpSpPr>
          <a:xfrm>
            <a:off x="7601661" y="4490866"/>
            <a:ext cx="1216244" cy="121624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EC8DA"/>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9" name="Freeform 29"/>
          <p:cNvSpPr/>
          <p:nvPr/>
        </p:nvSpPr>
        <p:spPr>
          <a:xfrm>
            <a:off x="6976824" y="1448022"/>
            <a:ext cx="431374" cy="517391"/>
          </a:xfrm>
          <a:custGeom>
            <a:avLst/>
            <a:gdLst/>
            <a:ahLst/>
            <a:cxnLst/>
            <a:rect l="l" t="t" r="r" b="b"/>
            <a:pathLst>
              <a:path w="431374" h="517391">
                <a:moveTo>
                  <a:pt x="0" y="0"/>
                </a:moveTo>
                <a:lnTo>
                  <a:pt x="431374" y="0"/>
                </a:lnTo>
                <a:lnTo>
                  <a:pt x="431374" y="517391"/>
                </a:lnTo>
                <a:lnTo>
                  <a:pt x="0" y="5173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0" name="Freeform 30"/>
          <p:cNvSpPr/>
          <p:nvPr/>
        </p:nvSpPr>
        <p:spPr>
          <a:xfrm>
            <a:off x="6939259" y="8232019"/>
            <a:ext cx="515739" cy="515739"/>
          </a:xfrm>
          <a:custGeom>
            <a:avLst/>
            <a:gdLst/>
            <a:ahLst/>
            <a:cxnLst/>
            <a:rect l="l" t="t" r="r" b="b"/>
            <a:pathLst>
              <a:path w="515739" h="515739">
                <a:moveTo>
                  <a:pt x="0" y="0"/>
                </a:moveTo>
                <a:lnTo>
                  <a:pt x="515740" y="0"/>
                </a:lnTo>
                <a:lnTo>
                  <a:pt x="515740" y="515739"/>
                </a:lnTo>
                <a:lnTo>
                  <a:pt x="0" y="5157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1" name="Freeform 31"/>
          <p:cNvSpPr/>
          <p:nvPr/>
        </p:nvSpPr>
        <p:spPr>
          <a:xfrm>
            <a:off x="7505196" y="6570925"/>
            <a:ext cx="600110" cy="600110"/>
          </a:xfrm>
          <a:custGeom>
            <a:avLst/>
            <a:gdLst/>
            <a:ahLst/>
            <a:cxnLst/>
            <a:rect l="l" t="t" r="r" b="b"/>
            <a:pathLst>
              <a:path w="600110" h="600110">
                <a:moveTo>
                  <a:pt x="0" y="0"/>
                </a:moveTo>
                <a:lnTo>
                  <a:pt x="600110" y="0"/>
                </a:lnTo>
                <a:lnTo>
                  <a:pt x="600110" y="600111"/>
                </a:lnTo>
                <a:lnTo>
                  <a:pt x="0" y="60011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2" name="Freeform 32"/>
          <p:cNvSpPr/>
          <p:nvPr/>
        </p:nvSpPr>
        <p:spPr>
          <a:xfrm>
            <a:off x="7505196" y="3074482"/>
            <a:ext cx="600110" cy="600110"/>
          </a:xfrm>
          <a:custGeom>
            <a:avLst/>
            <a:gdLst/>
            <a:ahLst/>
            <a:cxnLst/>
            <a:rect l="l" t="t" r="r" b="b"/>
            <a:pathLst>
              <a:path w="600110" h="600110">
                <a:moveTo>
                  <a:pt x="0" y="0"/>
                </a:moveTo>
                <a:lnTo>
                  <a:pt x="600110" y="0"/>
                </a:lnTo>
                <a:lnTo>
                  <a:pt x="600110" y="600111"/>
                </a:lnTo>
                <a:lnTo>
                  <a:pt x="0" y="60011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3" name="Freeform 33"/>
          <p:cNvSpPr/>
          <p:nvPr/>
        </p:nvSpPr>
        <p:spPr>
          <a:xfrm>
            <a:off x="7949354" y="4825984"/>
            <a:ext cx="520857" cy="543267"/>
          </a:xfrm>
          <a:custGeom>
            <a:avLst/>
            <a:gdLst/>
            <a:ahLst/>
            <a:cxnLst/>
            <a:rect l="l" t="t" r="r" b="b"/>
            <a:pathLst>
              <a:path w="520857" h="543267">
                <a:moveTo>
                  <a:pt x="0" y="0"/>
                </a:moveTo>
                <a:lnTo>
                  <a:pt x="520858" y="0"/>
                </a:lnTo>
                <a:lnTo>
                  <a:pt x="520858" y="543267"/>
                </a:lnTo>
                <a:lnTo>
                  <a:pt x="0" y="54326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4" name="TextBox 34"/>
          <p:cNvSpPr txBox="1"/>
          <p:nvPr/>
        </p:nvSpPr>
        <p:spPr>
          <a:xfrm>
            <a:off x="1701922" y="3963045"/>
            <a:ext cx="3909154" cy="1136015"/>
          </a:xfrm>
          <a:prstGeom prst="rect">
            <a:avLst/>
          </a:prstGeom>
        </p:spPr>
        <p:txBody>
          <a:bodyPr lIns="0" tIns="0" rIns="0" bIns="0" rtlCol="0" anchor="t">
            <a:spAutoFit/>
          </a:bodyPr>
          <a:lstStyle/>
          <a:p>
            <a:pPr algn="ctr">
              <a:lnSpc>
                <a:spcPts val="4479"/>
              </a:lnSpc>
            </a:pPr>
            <a:r>
              <a:rPr lang="en-US" sz="3999" b="1" dirty="0">
                <a:solidFill>
                  <a:srgbClr val="112F8D"/>
                </a:solidFill>
                <a:latin typeface="TT Fors Bold"/>
                <a:ea typeface="TT Fors Bold"/>
                <a:cs typeface="TT Fors Bold"/>
                <a:sym typeface="TT Fors Bold"/>
              </a:rPr>
              <a:t>System Architecture</a:t>
            </a:r>
          </a:p>
        </p:txBody>
      </p:sp>
      <p:sp>
        <p:nvSpPr>
          <p:cNvPr id="35" name="TextBox 35"/>
          <p:cNvSpPr txBox="1"/>
          <p:nvPr/>
        </p:nvSpPr>
        <p:spPr>
          <a:xfrm>
            <a:off x="1989031" y="5724380"/>
            <a:ext cx="3334937" cy="356235"/>
          </a:xfrm>
          <a:prstGeom prst="rect">
            <a:avLst/>
          </a:prstGeom>
        </p:spPr>
        <p:txBody>
          <a:bodyPr lIns="0" tIns="0" rIns="0" bIns="0" rtlCol="0" anchor="t">
            <a:spAutoFit/>
          </a:bodyPr>
          <a:lstStyle/>
          <a:p>
            <a:pPr algn="ctr">
              <a:lnSpc>
                <a:spcPts val="2940"/>
              </a:lnSpc>
              <a:spcBef>
                <a:spcPct val="0"/>
              </a:spcBef>
            </a:pPr>
            <a:r>
              <a:rPr lang="en-US" sz="2100">
                <a:solidFill>
                  <a:srgbClr val="000000"/>
                </a:solidFill>
                <a:latin typeface="TT Fors"/>
                <a:ea typeface="TT Fors"/>
                <a:cs typeface="TT Fors"/>
                <a:sym typeface="TT Fors"/>
              </a:rPr>
              <a:t>Flow of Proposed System</a:t>
            </a:r>
          </a:p>
        </p:txBody>
      </p:sp>
      <p:sp>
        <p:nvSpPr>
          <p:cNvPr id="36" name="TextBox 36"/>
          <p:cNvSpPr txBox="1"/>
          <p:nvPr/>
        </p:nvSpPr>
        <p:spPr>
          <a:xfrm>
            <a:off x="7765489" y="1366973"/>
            <a:ext cx="1409248" cy="717589"/>
          </a:xfrm>
          <a:prstGeom prst="rect">
            <a:avLst/>
          </a:prstGeom>
        </p:spPr>
        <p:txBody>
          <a:bodyPr lIns="0" tIns="0" rIns="0" bIns="0" rtlCol="0" anchor="t">
            <a:spAutoFit/>
          </a:bodyPr>
          <a:lstStyle/>
          <a:p>
            <a:pPr algn="r">
              <a:lnSpc>
                <a:spcPts val="5600"/>
              </a:lnSpc>
            </a:pPr>
            <a:r>
              <a:rPr lang="en-US" sz="5000" b="1">
                <a:solidFill>
                  <a:srgbClr val="122359"/>
                </a:solidFill>
                <a:latin typeface="TT Fors Bold"/>
                <a:ea typeface="TT Fors Bold"/>
                <a:cs typeface="TT Fors Bold"/>
                <a:sym typeface="TT Fors Bold"/>
              </a:rPr>
              <a:t>01</a:t>
            </a:r>
          </a:p>
        </p:txBody>
      </p:sp>
      <p:sp>
        <p:nvSpPr>
          <p:cNvPr id="37" name="TextBox 37"/>
          <p:cNvSpPr txBox="1"/>
          <p:nvPr/>
        </p:nvSpPr>
        <p:spPr>
          <a:xfrm>
            <a:off x="7765489" y="8148773"/>
            <a:ext cx="1409248" cy="717589"/>
          </a:xfrm>
          <a:prstGeom prst="rect">
            <a:avLst/>
          </a:prstGeom>
        </p:spPr>
        <p:txBody>
          <a:bodyPr lIns="0" tIns="0" rIns="0" bIns="0" rtlCol="0" anchor="t">
            <a:spAutoFit/>
          </a:bodyPr>
          <a:lstStyle/>
          <a:p>
            <a:pPr algn="r">
              <a:lnSpc>
                <a:spcPts val="5600"/>
              </a:lnSpc>
            </a:pPr>
            <a:r>
              <a:rPr lang="en-US" sz="5000" b="1">
                <a:solidFill>
                  <a:srgbClr val="122359"/>
                </a:solidFill>
                <a:latin typeface="TT Fors Bold"/>
                <a:ea typeface="TT Fors Bold"/>
                <a:cs typeface="TT Fors Bold"/>
                <a:sym typeface="TT Fors Bold"/>
              </a:rPr>
              <a:t>05</a:t>
            </a:r>
          </a:p>
        </p:txBody>
      </p:sp>
      <p:sp>
        <p:nvSpPr>
          <p:cNvPr id="38" name="TextBox 38"/>
          <p:cNvSpPr txBox="1"/>
          <p:nvPr/>
        </p:nvSpPr>
        <p:spPr>
          <a:xfrm>
            <a:off x="8413373" y="2988910"/>
            <a:ext cx="1409248" cy="717589"/>
          </a:xfrm>
          <a:prstGeom prst="rect">
            <a:avLst/>
          </a:prstGeom>
        </p:spPr>
        <p:txBody>
          <a:bodyPr lIns="0" tIns="0" rIns="0" bIns="0" rtlCol="0" anchor="t">
            <a:spAutoFit/>
          </a:bodyPr>
          <a:lstStyle/>
          <a:p>
            <a:pPr algn="r">
              <a:lnSpc>
                <a:spcPts val="5600"/>
              </a:lnSpc>
            </a:pPr>
            <a:r>
              <a:rPr lang="en-US" sz="5000" b="1">
                <a:solidFill>
                  <a:srgbClr val="122359"/>
                </a:solidFill>
                <a:latin typeface="TT Fors Bold"/>
                <a:ea typeface="TT Fors Bold"/>
                <a:cs typeface="TT Fors Bold"/>
                <a:sym typeface="TT Fors Bold"/>
              </a:rPr>
              <a:t>02</a:t>
            </a:r>
          </a:p>
        </p:txBody>
      </p:sp>
      <p:sp>
        <p:nvSpPr>
          <p:cNvPr id="39" name="TextBox 39"/>
          <p:cNvSpPr txBox="1"/>
          <p:nvPr/>
        </p:nvSpPr>
        <p:spPr>
          <a:xfrm>
            <a:off x="8413373" y="6547181"/>
            <a:ext cx="1409248" cy="717589"/>
          </a:xfrm>
          <a:prstGeom prst="rect">
            <a:avLst/>
          </a:prstGeom>
        </p:spPr>
        <p:txBody>
          <a:bodyPr lIns="0" tIns="0" rIns="0" bIns="0" rtlCol="0" anchor="t">
            <a:spAutoFit/>
          </a:bodyPr>
          <a:lstStyle/>
          <a:p>
            <a:pPr algn="r">
              <a:lnSpc>
                <a:spcPts val="5600"/>
              </a:lnSpc>
            </a:pPr>
            <a:r>
              <a:rPr lang="en-US" sz="5000" b="1">
                <a:solidFill>
                  <a:srgbClr val="122359"/>
                </a:solidFill>
                <a:latin typeface="TT Fors Bold"/>
                <a:ea typeface="TT Fors Bold"/>
                <a:cs typeface="TT Fors Bold"/>
                <a:sym typeface="TT Fors Bold"/>
              </a:rPr>
              <a:t>04</a:t>
            </a:r>
          </a:p>
        </p:txBody>
      </p:sp>
      <p:sp>
        <p:nvSpPr>
          <p:cNvPr id="40" name="TextBox 40"/>
          <p:cNvSpPr txBox="1"/>
          <p:nvPr/>
        </p:nvSpPr>
        <p:spPr>
          <a:xfrm>
            <a:off x="8817905" y="4757873"/>
            <a:ext cx="1409248" cy="717589"/>
          </a:xfrm>
          <a:prstGeom prst="rect">
            <a:avLst/>
          </a:prstGeom>
        </p:spPr>
        <p:txBody>
          <a:bodyPr lIns="0" tIns="0" rIns="0" bIns="0" rtlCol="0" anchor="t">
            <a:spAutoFit/>
          </a:bodyPr>
          <a:lstStyle/>
          <a:p>
            <a:pPr algn="r">
              <a:lnSpc>
                <a:spcPts val="5600"/>
              </a:lnSpc>
            </a:pPr>
            <a:r>
              <a:rPr lang="en-US" sz="5000" b="1">
                <a:solidFill>
                  <a:srgbClr val="122359"/>
                </a:solidFill>
                <a:latin typeface="TT Fors Bold"/>
                <a:ea typeface="TT Fors Bold"/>
                <a:cs typeface="TT Fors Bold"/>
                <a:sym typeface="TT Fors Bold"/>
              </a:rPr>
              <a:t>03</a:t>
            </a:r>
          </a:p>
        </p:txBody>
      </p:sp>
      <p:sp>
        <p:nvSpPr>
          <p:cNvPr id="41" name="TextBox 41"/>
          <p:cNvSpPr txBox="1"/>
          <p:nvPr/>
        </p:nvSpPr>
        <p:spPr>
          <a:xfrm>
            <a:off x="9660290" y="1643965"/>
            <a:ext cx="5248889" cy="273685"/>
          </a:xfrm>
          <a:prstGeom prst="rect">
            <a:avLst/>
          </a:prstGeom>
        </p:spPr>
        <p:txBody>
          <a:bodyPr lIns="0" tIns="0" rIns="0" bIns="0" rtlCol="0" anchor="t">
            <a:spAutoFit/>
          </a:bodyPr>
          <a:lstStyle/>
          <a:p>
            <a:pPr algn="l">
              <a:lnSpc>
                <a:spcPts val="2239"/>
              </a:lnSpc>
              <a:spcBef>
                <a:spcPct val="0"/>
              </a:spcBef>
            </a:pPr>
            <a:r>
              <a:rPr lang="en-US" sz="1599">
                <a:solidFill>
                  <a:srgbClr val="000000"/>
                </a:solidFill>
                <a:latin typeface="TT Fors"/>
                <a:ea typeface="TT Fors"/>
                <a:cs typeface="TT Fors"/>
                <a:sym typeface="TT Fors"/>
              </a:rPr>
              <a:t>Raw emails (spam + ham)</a:t>
            </a:r>
          </a:p>
        </p:txBody>
      </p:sp>
      <p:sp>
        <p:nvSpPr>
          <p:cNvPr id="42" name="TextBox 42"/>
          <p:cNvSpPr txBox="1"/>
          <p:nvPr/>
        </p:nvSpPr>
        <p:spPr>
          <a:xfrm>
            <a:off x="9660290" y="8425765"/>
            <a:ext cx="5248889" cy="273685"/>
          </a:xfrm>
          <a:prstGeom prst="rect">
            <a:avLst/>
          </a:prstGeom>
        </p:spPr>
        <p:txBody>
          <a:bodyPr lIns="0" tIns="0" rIns="0" bIns="0" rtlCol="0" anchor="t">
            <a:spAutoFit/>
          </a:bodyPr>
          <a:lstStyle/>
          <a:p>
            <a:pPr algn="l">
              <a:lnSpc>
                <a:spcPts val="2239"/>
              </a:lnSpc>
              <a:spcBef>
                <a:spcPct val="0"/>
              </a:spcBef>
            </a:pPr>
            <a:r>
              <a:rPr lang="en-US" sz="1599">
                <a:solidFill>
                  <a:srgbClr val="000000"/>
                </a:solidFill>
                <a:latin typeface="TT Fors"/>
                <a:ea typeface="TT Fors"/>
                <a:cs typeface="TT Fors"/>
                <a:sym typeface="TT Fors"/>
              </a:rPr>
              <a:t>Spam / Ham classification</a:t>
            </a:r>
          </a:p>
        </p:txBody>
      </p:sp>
      <p:sp>
        <p:nvSpPr>
          <p:cNvPr id="43" name="TextBox 43"/>
          <p:cNvSpPr txBox="1"/>
          <p:nvPr/>
        </p:nvSpPr>
        <p:spPr>
          <a:xfrm>
            <a:off x="10308174" y="3265903"/>
            <a:ext cx="5248889" cy="1102360"/>
          </a:xfrm>
          <a:prstGeom prst="rect">
            <a:avLst/>
          </a:prstGeom>
        </p:spPr>
        <p:txBody>
          <a:bodyPr lIns="0" tIns="0" rIns="0" bIns="0" rtlCol="0" anchor="t">
            <a:spAutoFit/>
          </a:bodyPr>
          <a:lstStyle/>
          <a:p>
            <a:pPr marL="345439" lvl="1" indent="-172720" algn="l">
              <a:lnSpc>
                <a:spcPts val="2239"/>
              </a:lnSpc>
              <a:spcBef>
                <a:spcPct val="0"/>
              </a:spcBef>
              <a:buFont typeface="Arial"/>
              <a:buChar char="•"/>
            </a:pPr>
            <a:r>
              <a:rPr lang="en-US" sz="1599">
                <a:solidFill>
                  <a:srgbClr val="000000"/>
                </a:solidFill>
                <a:latin typeface="TT Fors"/>
                <a:ea typeface="TT Fors"/>
                <a:cs typeface="TT Fors"/>
                <a:sym typeface="TT Fors"/>
              </a:rPr>
              <a:t>Cleaning, tokenization</a:t>
            </a:r>
          </a:p>
          <a:p>
            <a:pPr marL="345439" lvl="1" indent="-172720" algn="l">
              <a:lnSpc>
                <a:spcPts val="2239"/>
              </a:lnSpc>
              <a:spcBef>
                <a:spcPct val="0"/>
              </a:spcBef>
              <a:buFont typeface="Arial"/>
              <a:buChar char="•"/>
            </a:pPr>
            <a:r>
              <a:rPr lang="en-US" sz="1599">
                <a:solidFill>
                  <a:srgbClr val="000000"/>
                </a:solidFill>
                <a:latin typeface="TT Fors"/>
                <a:ea typeface="TT Fors"/>
                <a:cs typeface="TT Fors"/>
                <a:sym typeface="TT Fors"/>
              </a:rPr>
              <a:t>Stemming</a:t>
            </a:r>
          </a:p>
          <a:p>
            <a:pPr marL="345439" lvl="1" indent="-172720" algn="l">
              <a:lnSpc>
                <a:spcPts val="2239"/>
              </a:lnSpc>
              <a:spcBef>
                <a:spcPct val="0"/>
              </a:spcBef>
              <a:buFont typeface="Arial"/>
              <a:buChar char="•"/>
            </a:pPr>
            <a:r>
              <a:rPr lang="en-US" sz="1599">
                <a:solidFill>
                  <a:srgbClr val="000000"/>
                </a:solidFill>
                <a:latin typeface="TT Fors"/>
                <a:ea typeface="TT Fors"/>
                <a:cs typeface="TT Fors"/>
                <a:sym typeface="TT Fors"/>
              </a:rPr>
              <a:t>TF-IDF vectorization</a:t>
            </a:r>
          </a:p>
          <a:p>
            <a:pPr algn="l">
              <a:lnSpc>
                <a:spcPts val="2239"/>
              </a:lnSpc>
              <a:spcBef>
                <a:spcPct val="0"/>
              </a:spcBef>
            </a:pPr>
            <a:endParaRPr lang="en-US" sz="1599">
              <a:solidFill>
                <a:srgbClr val="000000"/>
              </a:solidFill>
              <a:latin typeface="TT Fors"/>
              <a:ea typeface="TT Fors"/>
              <a:cs typeface="TT Fors"/>
              <a:sym typeface="TT Fors"/>
            </a:endParaRPr>
          </a:p>
        </p:txBody>
      </p:sp>
      <p:sp>
        <p:nvSpPr>
          <p:cNvPr id="44" name="TextBox 44"/>
          <p:cNvSpPr txBox="1"/>
          <p:nvPr/>
        </p:nvSpPr>
        <p:spPr>
          <a:xfrm>
            <a:off x="10308174" y="6824174"/>
            <a:ext cx="5248889" cy="1102360"/>
          </a:xfrm>
          <a:prstGeom prst="rect">
            <a:avLst/>
          </a:prstGeom>
        </p:spPr>
        <p:txBody>
          <a:bodyPr lIns="0" tIns="0" rIns="0" bIns="0" rtlCol="0" anchor="t">
            <a:spAutoFit/>
          </a:bodyPr>
          <a:lstStyle/>
          <a:p>
            <a:pPr marL="345439" lvl="1" indent="-172720" algn="l">
              <a:lnSpc>
                <a:spcPts val="2239"/>
              </a:lnSpc>
              <a:buFont typeface="Arial"/>
              <a:buChar char="•"/>
            </a:pPr>
            <a:r>
              <a:rPr lang="en-US" sz="1599">
                <a:solidFill>
                  <a:srgbClr val="000000"/>
                </a:solidFill>
                <a:latin typeface="TT Fors"/>
                <a:ea typeface="TT Fors"/>
                <a:cs typeface="TT Fors"/>
                <a:sym typeface="TT Fors"/>
              </a:rPr>
              <a:t>Compare performance</a:t>
            </a:r>
          </a:p>
          <a:p>
            <a:pPr marL="345439" lvl="1" indent="-172720" algn="l">
              <a:lnSpc>
                <a:spcPts val="2239"/>
              </a:lnSpc>
              <a:buFont typeface="Arial"/>
              <a:buChar char="•"/>
            </a:pPr>
            <a:r>
              <a:rPr lang="en-US" sz="1599">
                <a:solidFill>
                  <a:srgbClr val="000000"/>
                </a:solidFill>
                <a:latin typeface="TT Fors"/>
                <a:ea typeface="TT Fors"/>
                <a:cs typeface="TT Fors"/>
                <a:sym typeface="TT Fors"/>
              </a:rPr>
              <a:t>Select best model</a:t>
            </a:r>
          </a:p>
          <a:p>
            <a:pPr marL="345439" lvl="1" indent="-172720" algn="l">
              <a:lnSpc>
                <a:spcPts val="2239"/>
              </a:lnSpc>
              <a:buFont typeface="Arial"/>
              <a:buChar char="•"/>
            </a:pPr>
            <a:r>
              <a:rPr lang="en-US" sz="1599">
                <a:solidFill>
                  <a:srgbClr val="000000"/>
                </a:solidFill>
                <a:latin typeface="TT Fors"/>
                <a:ea typeface="TT Fors"/>
                <a:cs typeface="TT Fors"/>
                <a:sym typeface="TT Fors"/>
              </a:rPr>
              <a:t>Reduce false positives</a:t>
            </a:r>
          </a:p>
          <a:p>
            <a:pPr algn="l">
              <a:lnSpc>
                <a:spcPts val="2239"/>
              </a:lnSpc>
            </a:pPr>
            <a:endParaRPr lang="en-US" sz="1599">
              <a:solidFill>
                <a:srgbClr val="000000"/>
              </a:solidFill>
              <a:latin typeface="TT Fors"/>
              <a:ea typeface="TT Fors"/>
              <a:cs typeface="TT Fors"/>
              <a:sym typeface="TT Fors"/>
            </a:endParaRPr>
          </a:p>
        </p:txBody>
      </p:sp>
      <p:sp>
        <p:nvSpPr>
          <p:cNvPr id="45" name="TextBox 45"/>
          <p:cNvSpPr txBox="1"/>
          <p:nvPr/>
        </p:nvSpPr>
        <p:spPr>
          <a:xfrm>
            <a:off x="10712706" y="5034865"/>
            <a:ext cx="5248889" cy="826135"/>
          </a:xfrm>
          <a:prstGeom prst="rect">
            <a:avLst/>
          </a:prstGeom>
        </p:spPr>
        <p:txBody>
          <a:bodyPr lIns="0" tIns="0" rIns="0" bIns="0" rtlCol="0" anchor="t">
            <a:spAutoFit/>
          </a:bodyPr>
          <a:lstStyle/>
          <a:p>
            <a:pPr marL="345439" lvl="1" indent="-172720" algn="l">
              <a:lnSpc>
                <a:spcPts val="2239"/>
              </a:lnSpc>
              <a:spcBef>
                <a:spcPct val="0"/>
              </a:spcBef>
              <a:buFont typeface="Arial"/>
              <a:buChar char="•"/>
            </a:pPr>
            <a:r>
              <a:rPr lang="en-US" sz="1599">
                <a:solidFill>
                  <a:srgbClr val="000000"/>
                </a:solidFill>
                <a:latin typeface="TT Fors"/>
                <a:ea typeface="TT Fors"/>
                <a:cs typeface="TT Fors"/>
                <a:sym typeface="TT Fors"/>
              </a:rPr>
              <a:t>Naïve Bayes</a:t>
            </a:r>
          </a:p>
          <a:p>
            <a:pPr marL="345439" lvl="1" indent="-172720" algn="l">
              <a:lnSpc>
                <a:spcPts val="2239"/>
              </a:lnSpc>
              <a:spcBef>
                <a:spcPct val="0"/>
              </a:spcBef>
              <a:buFont typeface="Arial"/>
              <a:buChar char="•"/>
            </a:pPr>
            <a:r>
              <a:rPr lang="en-US" sz="1599">
                <a:solidFill>
                  <a:srgbClr val="000000"/>
                </a:solidFill>
                <a:latin typeface="TT Fors"/>
                <a:ea typeface="TT Fors"/>
                <a:cs typeface="TT Fors"/>
                <a:sym typeface="TT Fors"/>
              </a:rPr>
              <a:t>SVM</a:t>
            </a:r>
          </a:p>
          <a:p>
            <a:pPr algn="l">
              <a:lnSpc>
                <a:spcPts val="2239"/>
              </a:lnSpc>
              <a:spcBef>
                <a:spcPct val="0"/>
              </a:spcBef>
            </a:pPr>
            <a:endParaRPr lang="en-US" sz="1599">
              <a:solidFill>
                <a:srgbClr val="000000"/>
              </a:solidFill>
              <a:latin typeface="TT Fors"/>
              <a:ea typeface="TT Fors"/>
              <a:cs typeface="TT Fors"/>
              <a:sym typeface="TT Fors"/>
            </a:endParaRPr>
          </a:p>
        </p:txBody>
      </p:sp>
      <p:sp>
        <p:nvSpPr>
          <p:cNvPr id="46" name="TextBox 46"/>
          <p:cNvSpPr txBox="1"/>
          <p:nvPr/>
        </p:nvSpPr>
        <p:spPr>
          <a:xfrm>
            <a:off x="9660290" y="1273150"/>
            <a:ext cx="5248889" cy="306705"/>
          </a:xfrm>
          <a:prstGeom prst="rect">
            <a:avLst/>
          </a:prstGeom>
        </p:spPr>
        <p:txBody>
          <a:bodyPr lIns="0" tIns="0" rIns="0" bIns="0" rtlCol="0" anchor="t">
            <a:spAutoFit/>
          </a:bodyPr>
          <a:lstStyle/>
          <a:p>
            <a:pPr algn="l">
              <a:lnSpc>
                <a:spcPts val="2519"/>
              </a:lnSpc>
              <a:spcBef>
                <a:spcPct val="0"/>
              </a:spcBef>
            </a:pPr>
            <a:r>
              <a:rPr lang="en-US" sz="1799" b="1">
                <a:solidFill>
                  <a:srgbClr val="000000"/>
                </a:solidFill>
                <a:latin typeface="TT Fors Bold"/>
                <a:ea typeface="TT Fors Bold"/>
                <a:cs typeface="TT Fors Bold"/>
                <a:sym typeface="TT Fors Bold"/>
              </a:rPr>
              <a:t>Input Email Dataset</a:t>
            </a:r>
          </a:p>
        </p:txBody>
      </p:sp>
      <p:sp>
        <p:nvSpPr>
          <p:cNvPr id="47" name="TextBox 47"/>
          <p:cNvSpPr txBox="1"/>
          <p:nvPr/>
        </p:nvSpPr>
        <p:spPr>
          <a:xfrm>
            <a:off x="9660290" y="8054950"/>
            <a:ext cx="5248889" cy="306705"/>
          </a:xfrm>
          <a:prstGeom prst="rect">
            <a:avLst/>
          </a:prstGeom>
        </p:spPr>
        <p:txBody>
          <a:bodyPr lIns="0" tIns="0" rIns="0" bIns="0" rtlCol="0" anchor="t">
            <a:spAutoFit/>
          </a:bodyPr>
          <a:lstStyle/>
          <a:p>
            <a:pPr algn="l">
              <a:lnSpc>
                <a:spcPts val="2519"/>
              </a:lnSpc>
              <a:spcBef>
                <a:spcPct val="0"/>
              </a:spcBef>
            </a:pPr>
            <a:r>
              <a:rPr lang="en-US" sz="1799" b="1">
                <a:solidFill>
                  <a:srgbClr val="000000"/>
                </a:solidFill>
                <a:latin typeface="TT Fors Bold"/>
                <a:ea typeface="TT Fors Bold"/>
                <a:cs typeface="TT Fors Bold"/>
                <a:sym typeface="TT Fors Bold"/>
              </a:rPr>
              <a:t>Output</a:t>
            </a:r>
          </a:p>
        </p:txBody>
      </p:sp>
      <p:sp>
        <p:nvSpPr>
          <p:cNvPr id="48" name="TextBox 48"/>
          <p:cNvSpPr txBox="1"/>
          <p:nvPr/>
        </p:nvSpPr>
        <p:spPr>
          <a:xfrm>
            <a:off x="10308174" y="2895088"/>
            <a:ext cx="5248889" cy="306705"/>
          </a:xfrm>
          <a:prstGeom prst="rect">
            <a:avLst/>
          </a:prstGeom>
        </p:spPr>
        <p:txBody>
          <a:bodyPr lIns="0" tIns="0" rIns="0" bIns="0" rtlCol="0" anchor="t">
            <a:spAutoFit/>
          </a:bodyPr>
          <a:lstStyle/>
          <a:p>
            <a:pPr algn="l">
              <a:lnSpc>
                <a:spcPts val="2519"/>
              </a:lnSpc>
              <a:spcBef>
                <a:spcPct val="0"/>
              </a:spcBef>
            </a:pPr>
            <a:r>
              <a:rPr lang="en-US" sz="1799" b="1">
                <a:solidFill>
                  <a:srgbClr val="000000"/>
                </a:solidFill>
                <a:latin typeface="TT Fors Bold"/>
                <a:ea typeface="TT Fors Bold"/>
                <a:cs typeface="TT Fors Bold"/>
                <a:sym typeface="TT Fors Bold"/>
              </a:rPr>
              <a:t>Text Preprocessing (Module 1)</a:t>
            </a:r>
          </a:p>
        </p:txBody>
      </p:sp>
      <p:sp>
        <p:nvSpPr>
          <p:cNvPr id="49" name="TextBox 49"/>
          <p:cNvSpPr txBox="1"/>
          <p:nvPr/>
        </p:nvSpPr>
        <p:spPr>
          <a:xfrm>
            <a:off x="10308174" y="6453359"/>
            <a:ext cx="5248889" cy="306705"/>
          </a:xfrm>
          <a:prstGeom prst="rect">
            <a:avLst/>
          </a:prstGeom>
        </p:spPr>
        <p:txBody>
          <a:bodyPr lIns="0" tIns="0" rIns="0" bIns="0" rtlCol="0" anchor="t">
            <a:spAutoFit/>
          </a:bodyPr>
          <a:lstStyle/>
          <a:p>
            <a:pPr algn="l">
              <a:lnSpc>
                <a:spcPts val="2519"/>
              </a:lnSpc>
              <a:spcBef>
                <a:spcPct val="0"/>
              </a:spcBef>
            </a:pPr>
            <a:r>
              <a:rPr lang="en-US" sz="1799" b="1">
                <a:solidFill>
                  <a:srgbClr val="000000"/>
                </a:solidFill>
                <a:latin typeface="TT Fors Bold"/>
                <a:ea typeface="TT Fors Bold"/>
                <a:cs typeface="TT Fors Bold"/>
                <a:sym typeface="TT Fors Bold"/>
              </a:rPr>
              <a:t>Evaluation &amp; Optimization (Module 3)</a:t>
            </a:r>
          </a:p>
        </p:txBody>
      </p:sp>
      <p:sp>
        <p:nvSpPr>
          <p:cNvPr id="50" name="TextBox 50"/>
          <p:cNvSpPr txBox="1"/>
          <p:nvPr/>
        </p:nvSpPr>
        <p:spPr>
          <a:xfrm>
            <a:off x="10712706" y="4664050"/>
            <a:ext cx="5248889" cy="306705"/>
          </a:xfrm>
          <a:prstGeom prst="rect">
            <a:avLst/>
          </a:prstGeom>
        </p:spPr>
        <p:txBody>
          <a:bodyPr lIns="0" tIns="0" rIns="0" bIns="0" rtlCol="0" anchor="t">
            <a:spAutoFit/>
          </a:bodyPr>
          <a:lstStyle/>
          <a:p>
            <a:pPr algn="l">
              <a:lnSpc>
                <a:spcPts val="2519"/>
              </a:lnSpc>
              <a:spcBef>
                <a:spcPct val="0"/>
              </a:spcBef>
            </a:pPr>
            <a:r>
              <a:rPr lang="en-US" sz="1799" b="1">
                <a:solidFill>
                  <a:srgbClr val="000000"/>
                </a:solidFill>
                <a:latin typeface="TT Fors Bold"/>
                <a:ea typeface="TT Fors Bold"/>
                <a:cs typeface="TT Fors Bold"/>
                <a:sym typeface="TT Fors Bold"/>
              </a:rPr>
              <a:t>Model Training (Module 2)</a:t>
            </a:r>
          </a:p>
        </p:txBody>
      </p:sp>
      <p:sp>
        <p:nvSpPr>
          <p:cNvPr id="51" name="Freeform 51"/>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15"/>
            <a:stretch>
              <a:fillRect/>
            </a:stretch>
          </a:blipFill>
        </p:spPr>
      </p:sp>
      <p:sp>
        <p:nvSpPr>
          <p:cNvPr id="52" name="Freeform 52"/>
          <p:cNvSpPr/>
          <p:nvPr/>
        </p:nvSpPr>
        <p:spPr>
          <a:xfrm>
            <a:off x="16334837" y="295617"/>
            <a:ext cx="1670025" cy="2141058"/>
          </a:xfrm>
          <a:custGeom>
            <a:avLst/>
            <a:gdLst/>
            <a:ahLst/>
            <a:cxnLst/>
            <a:rect l="l" t="t" r="r" b="b"/>
            <a:pathLst>
              <a:path w="1670025" h="2141058">
                <a:moveTo>
                  <a:pt x="0" y="0"/>
                </a:moveTo>
                <a:lnTo>
                  <a:pt x="1670025" y="0"/>
                </a:lnTo>
                <a:lnTo>
                  <a:pt x="1670025" y="2141057"/>
                </a:lnTo>
                <a:lnTo>
                  <a:pt x="0" y="2141057"/>
                </a:lnTo>
                <a:lnTo>
                  <a:pt x="0" y="0"/>
                </a:lnTo>
                <a:close/>
              </a:path>
            </a:pathLst>
          </a:custGeom>
          <a:blipFill>
            <a:blip r:embed="rId16"/>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38768" y="2060924"/>
            <a:ext cx="14465759" cy="3761131"/>
          </a:xfrm>
          <a:prstGeom prst="rect">
            <a:avLst/>
          </a:prstGeom>
        </p:spPr>
        <p:txBody>
          <a:bodyPr lIns="0" tIns="0" rIns="0" bIns="0" rtlCol="0" anchor="t">
            <a:spAutoFit/>
          </a:bodyPr>
          <a:lstStyle/>
          <a:p>
            <a:pPr algn="l">
              <a:lnSpc>
                <a:spcPts val="9658"/>
              </a:lnSpc>
            </a:pPr>
            <a:r>
              <a:rPr lang="en-US" sz="8472" b="1">
                <a:solidFill>
                  <a:srgbClr val="1C2120"/>
                </a:solidFill>
                <a:latin typeface="Poppins Bold"/>
                <a:ea typeface="Poppins Bold"/>
                <a:cs typeface="Poppins Bold"/>
                <a:sym typeface="Poppins Bold"/>
              </a:rPr>
              <a:t> Module‑1: Data Collection &amp; Preprocessing</a:t>
            </a:r>
          </a:p>
          <a:p>
            <a:pPr algn="l">
              <a:lnSpc>
                <a:spcPts val="9658"/>
              </a:lnSpc>
            </a:pPr>
            <a:endParaRPr lang="en-US" sz="8472" b="1">
              <a:solidFill>
                <a:srgbClr val="1C2120"/>
              </a:solidFill>
              <a:latin typeface="Poppins Bold"/>
              <a:ea typeface="Poppins Bold"/>
              <a:cs typeface="Poppins Bold"/>
              <a:sym typeface="Poppins Bold"/>
            </a:endParaRPr>
          </a:p>
        </p:txBody>
      </p:sp>
      <p:sp>
        <p:nvSpPr>
          <p:cNvPr id="3" name="TextBox 3"/>
          <p:cNvSpPr txBox="1"/>
          <p:nvPr/>
        </p:nvSpPr>
        <p:spPr>
          <a:xfrm>
            <a:off x="2558746" y="4870775"/>
            <a:ext cx="13174544" cy="4619625"/>
          </a:xfrm>
          <a:prstGeom prst="rect">
            <a:avLst/>
          </a:prstGeom>
        </p:spPr>
        <p:txBody>
          <a:bodyPr lIns="0" tIns="0" rIns="0" bIns="0" rtlCol="0" anchor="t">
            <a:spAutoFit/>
          </a:bodyPr>
          <a:lstStyle/>
          <a:p>
            <a:pPr marL="647700" lvl="1" indent="-323850" algn="l">
              <a:lnSpc>
                <a:spcPts val="4050"/>
              </a:lnSpc>
              <a:buFont typeface="Arial"/>
              <a:buChar char="•"/>
            </a:pPr>
            <a:r>
              <a:rPr lang="en-US" sz="3000" spc="179">
                <a:solidFill>
                  <a:srgbClr val="000000"/>
                </a:solidFill>
                <a:latin typeface="DM Sans"/>
                <a:ea typeface="DM Sans"/>
                <a:cs typeface="DM Sans"/>
                <a:sym typeface="DM Sans"/>
              </a:rPr>
              <a:t>Lo</a:t>
            </a:r>
            <a:r>
              <a:rPr lang="en-US" sz="3000" u="none" spc="179">
                <a:solidFill>
                  <a:srgbClr val="000000"/>
                </a:solidFill>
                <a:latin typeface="DM Sans"/>
                <a:ea typeface="DM Sans"/>
                <a:cs typeface="DM Sans"/>
                <a:sym typeface="DM Sans"/>
              </a:rPr>
              <a:t>ad dataset containing email messages &amp; labels (spam/ham).</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Text preprocessing steps:</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Lowercasing</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Removing numbers and punctuation</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Removing stopwords</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Stemming / Lemmatization</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Convert text into TF‑IDF vectors</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Create Document Term Matrix (DTM)</a:t>
            </a:r>
          </a:p>
          <a:p>
            <a:pPr algn="l">
              <a:lnSpc>
                <a:spcPts val="4050"/>
              </a:lnSpc>
            </a:pPr>
            <a:endParaRPr lang="en-US" sz="3000" u="none" spc="179">
              <a:solidFill>
                <a:srgbClr val="000000"/>
              </a:solidFill>
              <a:latin typeface="DM Sans"/>
              <a:ea typeface="DM Sans"/>
              <a:cs typeface="DM Sans"/>
              <a:sym typeface="DM Sans"/>
            </a:endParaRPr>
          </a:p>
        </p:txBody>
      </p:sp>
      <p:sp>
        <p:nvSpPr>
          <p:cNvPr id="4" name="Freeform 4"/>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2"/>
            <a:stretch>
              <a:fillRect/>
            </a:stretch>
          </a:blipFill>
        </p:spPr>
      </p:sp>
      <p:sp>
        <p:nvSpPr>
          <p:cNvPr id="5" name="Freeform 5"/>
          <p:cNvSpPr/>
          <p:nvPr/>
        </p:nvSpPr>
        <p:spPr>
          <a:xfrm>
            <a:off x="16334837" y="295617"/>
            <a:ext cx="1670025" cy="2141058"/>
          </a:xfrm>
          <a:custGeom>
            <a:avLst/>
            <a:gdLst/>
            <a:ahLst/>
            <a:cxnLst/>
            <a:rect l="l" t="t" r="r" b="b"/>
            <a:pathLst>
              <a:path w="1670025" h="2141058">
                <a:moveTo>
                  <a:pt x="0" y="0"/>
                </a:moveTo>
                <a:lnTo>
                  <a:pt x="1670025" y="0"/>
                </a:lnTo>
                <a:lnTo>
                  <a:pt x="1670025" y="2141057"/>
                </a:lnTo>
                <a:lnTo>
                  <a:pt x="0" y="2141057"/>
                </a:lnTo>
                <a:lnTo>
                  <a:pt x="0" y="0"/>
                </a:lnTo>
                <a:close/>
              </a:path>
            </a:pathLst>
          </a:custGeom>
          <a:blipFill>
            <a:blip r:embed="rId3"/>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38768" y="2670669"/>
            <a:ext cx="14465759" cy="2541641"/>
          </a:xfrm>
          <a:prstGeom prst="rect">
            <a:avLst/>
          </a:prstGeom>
        </p:spPr>
        <p:txBody>
          <a:bodyPr lIns="0" tIns="0" rIns="0" bIns="0" rtlCol="0" anchor="t">
            <a:spAutoFit/>
          </a:bodyPr>
          <a:lstStyle/>
          <a:p>
            <a:pPr algn="l">
              <a:lnSpc>
                <a:spcPts val="9658"/>
              </a:lnSpc>
            </a:pPr>
            <a:r>
              <a:rPr lang="en-US" sz="8472" b="1">
                <a:solidFill>
                  <a:srgbClr val="1C2120"/>
                </a:solidFill>
                <a:latin typeface="Poppins Bold"/>
                <a:ea typeface="Poppins Bold"/>
                <a:cs typeface="Poppins Bold"/>
                <a:sym typeface="Poppins Bold"/>
              </a:rPr>
              <a:t>Module‑2: Model Training</a:t>
            </a:r>
          </a:p>
          <a:p>
            <a:pPr algn="l">
              <a:lnSpc>
                <a:spcPts val="9658"/>
              </a:lnSpc>
            </a:pPr>
            <a:endParaRPr lang="en-US" sz="8472" b="1">
              <a:solidFill>
                <a:srgbClr val="1C2120"/>
              </a:solidFill>
              <a:latin typeface="Poppins Bold"/>
              <a:ea typeface="Poppins Bold"/>
              <a:cs typeface="Poppins Bold"/>
              <a:sym typeface="Poppins Bold"/>
            </a:endParaRPr>
          </a:p>
        </p:txBody>
      </p:sp>
      <p:sp>
        <p:nvSpPr>
          <p:cNvPr id="3" name="TextBox 3"/>
          <p:cNvSpPr txBox="1"/>
          <p:nvPr/>
        </p:nvSpPr>
        <p:spPr>
          <a:xfrm>
            <a:off x="2558746" y="4870775"/>
            <a:ext cx="13174544" cy="3590925"/>
          </a:xfrm>
          <a:prstGeom prst="rect">
            <a:avLst/>
          </a:prstGeom>
        </p:spPr>
        <p:txBody>
          <a:bodyPr lIns="0" tIns="0" rIns="0" bIns="0" rtlCol="0" anchor="t">
            <a:spAutoFit/>
          </a:bodyPr>
          <a:lstStyle/>
          <a:p>
            <a:pPr marL="647700" lvl="1" indent="-323850" algn="l">
              <a:lnSpc>
                <a:spcPts val="4050"/>
              </a:lnSpc>
              <a:buFont typeface="Arial"/>
              <a:buChar char="•"/>
            </a:pPr>
            <a:r>
              <a:rPr lang="en-US" sz="3000" spc="179">
                <a:solidFill>
                  <a:srgbClr val="000000"/>
                </a:solidFill>
                <a:latin typeface="DM Sans"/>
                <a:ea typeface="DM Sans"/>
                <a:cs typeface="DM Sans"/>
                <a:sym typeface="DM Sans"/>
              </a:rPr>
              <a:t>Tr</a:t>
            </a:r>
            <a:r>
              <a:rPr lang="en-US" sz="3000" u="none" spc="179">
                <a:solidFill>
                  <a:srgbClr val="000000"/>
                </a:solidFill>
                <a:latin typeface="DM Sans"/>
                <a:ea typeface="DM Sans"/>
                <a:cs typeface="DM Sans"/>
                <a:sym typeface="DM Sans"/>
              </a:rPr>
              <a:t>aining ML models:</a:t>
            </a:r>
          </a:p>
          <a:p>
            <a:pPr marL="1295400" lvl="2" indent="-431800" algn="l">
              <a:lnSpc>
                <a:spcPts val="4050"/>
              </a:lnSpc>
              <a:buFont typeface="Arial"/>
              <a:buChar char="⚬"/>
            </a:pPr>
            <a:r>
              <a:rPr lang="en-US" sz="3000" u="none" spc="179">
                <a:solidFill>
                  <a:srgbClr val="000000"/>
                </a:solidFill>
                <a:latin typeface="DM Sans"/>
                <a:ea typeface="DM Sans"/>
                <a:cs typeface="DM Sans"/>
                <a:sym typeface="DM Sans"/>
              </a:rPr>
              <a:t>Naive Bayes Classifier</a:t>
            </a:r>
          </a:p>
          <a:p>
            <a:pPr marL="1295400" lvl="2" indent="-431800" algn="l">
              <a:lnSpc>
                <a:spcPts val="4050"/>
              </a:lnSpc>
              <a:buFont typeface="Arial"/>
              <a:buChar char="⚬"/>
            </a:pPr>
            <a:r>
              <a:rPr lang="en-US" sz="3000" u="none" spc="179">
                <a:solidFill>
                  <a:srgbClr val="000000"/>
                </a:solidFill>
                <a:latin typeface="DM Sans"/>
                <a:ea typeface="DM Sans"/>
                <a:cs typeface="DM Sans"/>
                <a:sym typeface="DM Sans"/>
              </a:rPr>
              <a:t>Support Vector Machine (SVM)</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Split dataset: 80% training, 20% testing.</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Evaluate performance using:</a:t>
            </a:r>
          </a:p>
          <a:p>
            <a:pPr marL="1295400" lvl="2" indent="-431800" algn="l">
              <a:lnSpc>
                <a:spcPts val="4050"/>
              </a:lnSpc>
              <a:buFont typeface="Arial"/>
              <a:buChar char="⚬"/>
            </a:pPr>
            <a:r>
              <a:rPr lang="en-US" sz="3000" u="none" spc="179">
                <a:solidFill>
                  <a:srgbClr val="000000"/>
                </a:solidFill>
                <a:latin typeface="DM Sans"/>
                <a:ea typeface="DM Sans"/>
                <a:cs typeface="DM Sans"/>
                <a:sym typeface="DM Sans"/>
              </a:rPr>
              <a:t>Accuracy, Precision, Recall, F1‑Score</a:t>
            </a:r>
          </a:p>
          <a:p>
            <a:pPr algn="l">
              <a:lnSpc>
                <a:spcPts val="4050"/>
              </a:lnSpc>
            </a:pPr>
            <a:endParaRPr lang="en-US" sz="3000" u="none" spc="179">
              <a:solidFill>
                <a:srgbClr val="000000"/>
              </a:solidFill>
              <a:latin typeface="DM Sans"/>
              <a:ea typeface="DM Sans"/>
              <a:cs typeface="DM Sans"/>
              <a:sym typeface="DM Sans"/>
            </a:endParaRPr>
          </a:p>
        </p:txBody>
      </p:sp>
      <p:sp>
        <p:nvSpPr>
          <p:cNvPr id="4" name="Freeform 4"/>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2"/>
            <a:stretch>
              <a:fillRect/>
            </a:stretch>
          </a:blipFill>
        </p:spPr>
      </p:sp>
      <p:sp>
        <p:nvSpPr>
          <p:cNvPr id="5" name="Freeform 5"/>
          <p:cNvSpPr/>
          <p:nvPr/>
        </p:nvSpPr>
        <p:spPr>
          <a:xfrm>
            <a:off x="16334837" y="295617"/>
            <a:ext cx="1670025" cy="2141058"/>
          </a:xfrm>
          <a:custGeom>
            <a:avLst/>
            <a:gdLst/>
            <a:ahLst/>
            <a:cxnLst/>
            <a:rect l="l" t="t" r="r" b="b"/>
            <a:pathLst>
              <a:path w="1670025" h="2141058">
                <a:moveTo>
                  <a:pt x="0" y="0"/>
                </a:moveTo>
                <a:lnTo>
                  <a:pt x="1670025" y="0"/>
                </a:lnTo>
                <a:lnTo>
                  <a:pt x="1670025" y="2141057"/>
                </a:lnTo>
                <a:lnTo>
                  <a:pt x="0" y="2141057"/>
                </a:lnTo>
                <a:lnTo>
                  <a:pt x="0" y="0"/>
                </a:lnTo>
                <a:close/>
              </a:path>
            </a:pathLst>
          </a:custGeom>
          <a:blipFill>
            <a:blip r:embed="rId3"/>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26218" y="2398574"/>
            <a:ext cx="14465759" cy="3761131"/>
          </a:xfrm>
          <a:prstGeom prst="rect">
            <a:avLst/>
          </a:prstGeom>
        </p:spPr>
        <p:txBody>
          <a:bodyPr lIns="0" tIns="0" rIns="0" bIns="0" rtlCol="0" anchor="t">
            <a:spAutoFit/>
          </a:bodyPr>
          <a:lstStyle/>
          <a:p>
            <a:pPr algn="l">
              <a:lnSpc>
                <a:spcPts val="9658"/>
              </a:lnSpc>
            </a:pPr>
            <a:r>
              <a:rPr lang="en-US" sz="8472" b="1">
                <a:solidFill>
                  <a:srgbClr val="1C2120"/>
                </a:solidFill>
                <a:latin typeface="Poppins Bold"/>
                <a:ea typeface="Poppins Bold"/>
                <a:cs typeface="Poppins Bold"/>
                <a:sym typeface="Poppins Bold"/>
              </a:rPr>
              <a:t> Module‑3: Model Testing &amp; User Input Prediction</a:t>
            </a:r>
          </a:p>
          <a:p>
            <a:pPr algn="l">
              <a:lnSpc>
                <a:spcPts val="9658"/>
              </a:lnSpc>
            </a:pPr>
            <a:endParaRPr lang="en-US" sz="8472" b="1">
              <a:solidFill>
                <a:srgbClr val="1C2120"/>
              </a:solidFill>
              <a:latin typeface="Poppins Bold"/>
              <a:ea typeface="Poppins Bold"/>
              <a:cs typeface="Poppins Bold"/>
              <a:sym typeface="Poppins Bold"/>
            </a:endParaRPr>
          </a:p>
        </p:txBody>
      </p:sp>
      <p:sp>
        <p:nvSpPr>
          <p:cNvPr id="3" name="TextBox 3"/>
          <p:cNvSpPr txBox="1"/>
          <p:nvPr/>
        </p:nvSpPr>
        <p:spPr>
          <a:xfrm>
            <a:off x="2556728" y="5478546"/>
            <a:ext cx="13174544" cy="3076575"/>
          </a:xfrm>
          <a:prstGeom prst="rect">
            <a:avLst/>
          </a:prstGeom>
        </p:spPr>
        <p:txBody>
          <a:bodyPr lIns="0" tIns="0" rIns="0" bIns="0" rtlCol="0" anchor="t">
            <a:spAutoFit/>
          </a:bodyPr>
          <a:lstStyle/>
          <a:p>
            <a:pPr marL="647700" lvl="1" indent="-323850" algn="l">
              <a:lnSpc>
                <a:spcPts val="4050"/>
              </a:lnSpc>
              <a:buFont typeface="Arial"/>
              <a:buChar char="•"/>
            </a:pPr>
            <a:r>
              <a:rPr lang="en-US" sz="3000" spc="179">
                <a:solidFill>
                  <a:srgbClr val="000000"/>
                </a:solidFill>
                <a:latin typeface="DM Sans"/>
                <a:ea typeface="DM Sans"/>
                <a:cs typeface="DM Sans"/>
                <a:sym typeface="DM Sans"/>
              </a:rPr>
              <a:t>Test results comp</a:t>
            </a:r>
            <a:r>
              <a:rPr lang="en-US" sz="3000" u="none" spc="179">
                <a:solidFill>
                  <a:srgbClr val="000000"/>
                </a:solidFill>
                <a:latin typeface="DM Sans"/>
                <a:ea typeface="DM Sans"/>
                <a:cs typeface="DM Sans"/>
                <a:sym typeface="DM Sans"/>
              </a:rPr>
              <a:t>arison:</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SVM Accuracy: 93.8%</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Naive Bayes Accuracy: 45%</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Real‑time user input email classification.</a:t>
            </a:r>
          </a:p>
          <a:p>
            <a:pPr marL="647700" lvl="1" indent="-323850" algn="l">
              <a:lnSpc>
                <a:spcPts val="4050"/>
              </a:lnSpc>
              <a:buFont typeface="Arial"/>
              <a:buChar char="•"/>
            </a:pPr>
            <a:r>
              <a:rPr lang="en-US" sz="3000" u="none" spc="179">
                <a:solidFill>
                  <a:srgbClr val="000000"/>
                </a:solidFill>
                <a:latin typeface="DM Sans"/>
                <a:ea typeface="DM Sans"/>
                <a:cs typeface="DM Sans"/>
                <a:sym typeface="DM Sans"/>
              </a:rPr>
              <a:t>Email text entered is classified as Spam / Ham automatically.</a:t>
            </a:r>
          </a:p>
          <a:p>
            <a:pPr algn="l">
              <a:lnSpc>
                <a:spcPts val="4050"/>
              </a:lnSpc>
            </a:pPr>
            <a:endParaRPr lang="en-US" sz="3000" u="none" spc="179">
              <a:solidFill>
                <a:srgbClr val="000000"/>
              </a:solidFill>
              <a:latin typeface="DM Sans"/>
              <a:ea typeface="DM Sans"/>
              <a:cs typeface="DM Sans"/>
              <a:sym typeface="DM Sans"/>
            </a:endParaRPr>
          </a:p>
        </p:txBody>
      </p:sp>
      <p:sp>
        <p:nvSpPr>
          <p:cNvPr id="4" name="Freeform 4"/>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2"/>
            <a:stretch>
              <a:fillRect/>
            </a:stretch>
          </a:blipFill>
        </p:spPr>
      </p:sp>
      <p:sp>
        <p:nvSpPr>
          <p:cNvPr id="5" name="Freeform 5"/>
          <p:cNvSpPr/>
          <p:nvPr/>
        </p:nvSpPr>
        <p:spPr>
          <a:xfrm>
            <a:off x="16334837" y="295617"/>
            <a:ext cx="1670025" cy="2141058"/>
          </a:xfrm>
          <a:custGeom>
            <a:avLst/>
            <a:gdLst/>
            <a:ahLst/>
            <a:cxnLst/>
            <a:rect l="l" t="t" r="r" b="b"/>
            <a:pathLst>
              <a:path w="1670025" h="2141058">
                <a:moveTo>
                  <a:pt x="0" y="0"/>
                </a:moveTo>
                <a:lnTo>
                  <a:pt x="1670025" y="0"/>
                </a:lnTo>
                <a:lnTo>
                  <a:pt x="1670025" y="2141057"/>
                </a:lnTo>
                <a:lnTo>
                  <a:pt x="0" y="2141057"/>
                </a:lnTo>
                <a:lnTo>
                  <a:pt x="0" y="0"/>
                </a:lnTo>
                <a:close/>
              </a:path>
            </a:pathLst>
          </a:custGeom>
          <a:blipFill>
            <a:blip r:embed="rId3"/>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2"/>
            <a:stretch>
              <a:fillRect/>
            </a:stretch>
          </a:blipFill>
        </p:spPr>
      </p:sp>
      <p:sp>
        <p:nvSpPr>
          <p:cNvPr id="3" name="Freeform 3"/>
          <p:cNvSpPr/>
          <p:nvPr/>
        </p:nvSpPr>
        <p:spPr>
          <a:xfrm>
            <a:off x="16334837" y="295617"/>
            <a:ext cx="1670025" cy="2141058"/>
          </a:xfrm>
          <a:custGeom>
            <a:avLst/>
            <a:gdLst/>
            <a:ahLst/>
            <a:cxnLst/>
            <a:rect l="l" t="t" r="r" b="b"/>
            <a:pathLst>
              <a:path w="1670025" h="2141058">
                <a:moveTo>
                  <a:pt x="0" y="0"/>
                </a:moveTo>
                <a:lnTo>
                  <a:pt x="1670025" y="0"/>
                </a:lnTo>
                <a:lnTo>
                  <a:pt x="1670025" y="2141057"/>
                </a:lnTo>
                <a:lnTo>
                  <a:pt x="0" y="2141057"/>
                </a:lnTo>
                <a:lnTo>
                  <a:pt x="0" y="0"/>
                </a:lnTo>
                <a:close/>
              </a:path>
            </a:pathLst>
          </a:custGeom>
          <a:blipFill>
            <a:blip r:embed="rId3"/>
            <a:stretch>
              <a:fillRect/>
            </a:stretch>
          </a:blipFill>
        </p:spPr>
      </p:sp>
      <p:graphicFrame>
        <p:nvGraphicFramePr>
          <p:cNvPr id="4" name="Table 4"/>
          <p:cNvGraphicFramePr>
            <a:graphicFrameLocks noGrp="1"/>
          </p:cNvGraphicFramePr>
          <p:nvPr/>
        </p:nvGraphicFramePr>
        <p:xfrm>
          <a:off x="1396139" y="4729333"/>
          <a:ext cx="8950518" cy="3635866"/>
        </p:xfrm>
        <a:graphic>
          <a:graphicData uri="http://schemas.openxmlformats.org/drawingml/2006/table">
            <a:tbl>
              <a:tblPr/>
              <a:tblGrid>
                <a:gridCol w="2131881">
                  <a:extLst>
                    <a:ext uri="{9D8B030D-6E8A-4147-A177-3AD203B41FA5}">
                      <a16:colId xmlns:a16="http://schemas.microsoft.com/office/drawing/2014/main" val="20000"/>
                    </a:ext>
                  </a:extLst>
                </a:gridCol>
                <a:gridCol w="1687705">
                  <a:extLst>
                    <a:ext uri="{9D8B030D-6E8A-4147-A177-3AD203B41FA5}">
                      <a16:colId xmlns:a16="http://schemas.microsoft.com/office/drawing/2014/main" val="20001"/>
                    </a:ext>
                  </a:extLst>
                </a:gridCol>
                <a:gridCol w="1732917">
                  <a:extLst>
                    <a:ext uri="{9D8B030D-6E8A-4147-A177-3AD203B41FA5}">
                      <a16:colId xmlns:a16="http://schemas.microsoft.com/office/drawing/2014/main" val="20002"/>
                    </a:ext>
                  </a:extLst>
                </a:gridCol>
                <a:gridCol w="1642492">
                  <a:extLst>
                    <a:ext uri="{9D8B030D-6E8A-4147-A177-3AD203B41FA5}">
                      <a16:colId xmlns:a16="http://schemas.microsoft.com/office/drawing/2014/main" val="20003"/>
                    </a:ext>
                  </a:extLst>
                </a:gridCol>
                <a:gridCol w="1755523">
                  <a:extLst>
                    <a:ext uri="{9D8B030D-6E8A-4147-A177-3AD203B41FA5}">
                      <a16:colId xmlns:a16="http://schemas.microsoft.com/office/drawing/2014/main" val="20004"/>
                    </a:ext>
                  </a:extLst>
                </a:gridCol>
              </a:tblGrid>
              <a:tr h="1522850">
                <a:tc>
                  <a:txBody>
                    <a:bodyPr/>
                    <a:lstStyle/>
                    <a:p>
                      <a:pPr algn="ctr">
                        <a:lnSpc>
                          <a:spcPts val="2520"/>
                        </a:lnSpc>
                        <a:defRPr/>
                      </a:pPr>
                      <a:r>
                        <a:rPr lang="en-US" sz="1800" b="1" dirty="0">
                          <a:solidFill>
                            <a:srgbClr val="000000"/>
                          </a:solidFill>
                          <a:latin typeface="Poppins Bold"/>
                          <a:ea typeface="Poppins Bold"/>
                          <a:cs typeface="Poppins Bold"/>
                          <a:sym typeface="Poppins Bold"/>
                        </a:rPr>
                        <a:t>Model</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a:solidFill>
                            <a:srgbClr val="000000"/>
                          </a:solidFill>
                          <a:latin typeface="Poppins Bold"/>
                          <a:ea typeface="Poppins Bold"/>
                          <a:cs typeface="Poppins Bold"/>
                          <a:sym typeface="Poppins Bold"/>
                        </a:rPr>
                        <a:t>Accuracy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a:solidFill>
                            <a:srgbClr val="000000"/>
                          </a:solidFill>
                          <a:latin typeface="Poppins Bold"/>
                          <a:ea typeface="Poppins Bold"/>
                          <a:cs typeface="Poppins Bold"/>
                          <a:sym typeface="Poppins Bold"/>
                        </a:rPr>
                        <a:t>Precision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a:solidFill>
                            <a:srgbClr val="000000"/>
                          </a:solidFill>
                          <a:latin typeface="Poppins Bold"/>
                          <a:ea typeface="Poppins Bold"/>
                          <a:cs typeface="Poppins Bold"/>
                          <a:sym typeface="Poppins Bold"/>
                        </a:rPr>
                        <a:t>F1‑Score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dirty="0">
                          <a:solidFill>
                            <a:srgbClr val="000000"/>
                          </a:solidFill>
                          <a:latin typeface="Poppins Bold"/>
                          <a:ea typeface="Poppins Bold"/>
                          <a:cs typeface="Poppins Bold"/>
                          <a:sym typeface="Poppins Bold"/>
                        </a:rPr>
                        <a:t>Recall</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45134">
                <a:tc>
                  <a:txBody>
                    <a:bodyPr/>
                    <a:lstStyle/>
                    <a:p>
                      <a:pPr algn="ctr">
                        <a:lnSpc>
                          <a:spcPts val="2520"/>
                        </a:lnSpc>
                        <a:defRPr/>
                      </a:pPr>
                      <a:r>
                        <a:rPr lang="en-US" sz="1800">
                          <a:solidFill>
                            <a:srgbClr val="000000"/>
                          </a:solidFill>
                          <a:latin typeface="Poppins"/>
                          <a:ea typeface="Poppins"/>
                          <a:cs typeface="Poppins"/>
                          <a:sym typeface="Poppins"/>
                        </a:rPr>
                        <a:t>Naive Bayes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Poppins"/>
                          <a:ea typeface="Poppins"/>
                          <a:cs typeface="Poppins"/>
                          <a:sym typeface="Poppins"/>
                        </a:rPr>
                        <a:t>45%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Poppins"/>
                          <a:ea typeface="Poppins"/>
                          <a:cs typeface="Poppins"/>
                          <a:sym typeface="Poppins"/>
                        </a:rPr>
                        <a:t>19%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Poppins"/>
                          <a:ea typeface="Poppins"/>
                          <a:cs typeface="Poppins"/>
                          <a:sym typeface="Poppins"/>
                        </a:rPr>
                        <a:t>32%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Poppins"/>
                          <a:ea typeface="Poppins"/>
                          <a:cs typeface="Poppins"/>
                          <a:sym typeface="Poppins"/>
                        </a:rPr>
                        <a:t>98%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67882">
                <a:tc>
                  <a:txBody>
                    <a:bodyPr/>
                    <a:lstStyle/>
                    <a:p>
                      <a:pPr algn="ctr">
                        <a:lnSpc>
                          <a:spcPts val="2520"/>
                        </a:lnSpc>
                        <a:defRPr/>
                      </a:pPr>
                      <a:r>
                        <a:rPr lang="en-US" sz="1800">
                          <a:solidFill>
                            <a:srgbClr val="000000"/>
                          </a:solidFill>
                          <a:latin typeface="Poppins"/>
                          <a:ea typeface="Poppins"/>
                          <a:cs typeface="Poppins"/>
                          <a:sym typeface="Poppins"/>
                        </a:rPr>
                        <a:t>SVM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Poppins"/>
                          <a:ea typeface="Poppins"/>
                          <a:cs typeface="Poppins"/>
                          <a:sym typeface="Poppins"/>
                        </a:rPr>
                        <a:t>94%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Poppins"/>
                          <a:ea typeface="Poppins"/>
                          <a:cs typeface="Poppins"/>
                          <a:sym typeface="Poppins"/>
                        </a:rPr>
                        <a:t>83%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Poppins"/>
                          <a:ea typeface="Poppins"/>
                          <a:cs typeface="Poppins"/>
                          <a:sym typeface="Poppins"/>
                        </a:rPr>
                        <a:t>74%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dirty="0">
                          <a:solidFill>
                            <a:srgbClr val="000000"/>
                          </a:solidFill>
                          <a:latin typeface="Poppins"/>
                          <a:ea typeface="Poppins"/>
                          <a:cs typeface="Poppins"/>
                          <a:sym typeface="Poppins"/>
                        </a:rPr>
                        <a:t>68%</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Box 5"/>
          <p:cNvSpPr txBox="1"/>
          <p:nvPr/>
        </p:nvSpPr>
        <p:spPr>
          <a:xfrm>
            <a:off x="1911120" y="2187692"/>
            <a:ext cx="14465759" cy="2541641"/>
          </a:xfrm>
          <a:prstGeom prst="rect">
            <a:avLst/>
          </a:prstGeom>
        </p:spPr>
        <p:txBody>
          <a:bodyPr lIns="0" tIns="0" rIns="0" bIns="0" rtlCol="0" anchor="t">
            <a:spAutoFit/>
          </a:bodyPr>
          <a:lstStyle/>
          <a:p>
            <a:pPr algn="l">
              <a:lnSpc>
                <a:spcPts val="9658"/>
              </a:lnSpc>
            </a:pPr>
            <a:r>
              <a:rPr lang="en-US" sz="8472" b="1" dirty="0">
                <a:solidFill>
                  <a:srgbClr val="1C2120"/>
                </a:solidFill>
                <a:latin typeface="Poppins Bold"/>
                <a:ea typeface="Poppins Bold"/>
                <a:cs typeface="Poppins Bold"/>
                <a:sym typeface="Poppins Bold"/>
              </a:rPr>
              <a:t>Performance Comparison</a:t>
            </a:r>
          </a:p>
          <a:p>
            <a:pPr algn="l">
              <a:lnSpc>
                <a:spcPts val="9658"/>
              </a:lnSpc>
            </a:pPr>
            <a:endParaRPr lang="en-US" sz="8472" b="1" dirty="0">
              <a:solidFill>
                <a:srgbClr val="1C2120"/>
              </a:solidFill>
              <a:latin typeface="Poppins Bold"/>
              <a:ea typeface="Poppins Bold"/>
              <a:cs typeface="Poppins Bold"/>
              <a:sym typeface="Poppins Bold"/>
            </a:endParaRPr>
          </a:p>
        </p:txBody>
      </p:sp>
      <p:sp>
        <p:nvSpPr>
          <p:cNvPr id="6" name="TextBox 6"/>
          <p:cNvSpPr txBox="1"/>
          <p:nvPr/>
        </p:nvSpPr>
        <p:spPr>
          <a:xfrm>
            <a:off x="2558746" y="8797290"/>
            <a:ext cx="5260181" cy="461010"/>
          </a:xfrm>
          <a:prstGeom prst="rect">
            <a:avLst/>
          </a:prstGeom>
        </p:spPr>
        <p:txBody>
          <a:bodyPr lIns="0" tIns="0" rIns="0" bIns="0" rtlCol="0" anchor="t">
            <a:spAutoFit/>
          </a:bodyPr>
          <a:lstStyle/>
          <a:p>
            <a:pPr algn="ctr">
              <a:lnSpc>
                <a:spcPts val="3419"/>
              </a:lnSpc>
              <a:spcBef>
                <a:spcPct val="0"/>
              </a:spcBef>
            </a:pPr>
            <a:r>
              <a:rPr lang="en-US" sz="3000" dirty="0">
                <a:solidFill>
                  <a:srgbClr val="1C2120"/>
                </a:solidFill>
                <a:latin typeface="Poppins"/>
                <a:ea typeface="Poppins"/>
                <a:cs typeface="Poppins"/>
                <a:sym typeface="Poppins"/>
              </a:rPr>
              <a:t>Best Performing Model: SVM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83134" y="2319003"/>
            <a:ext cx="6830714" cy="1183648"/>
            <a:chOff x="0" y="0"/>
            <a:chExt cx="2286638" cy="396236"/>
          </a:xfrm>
        </p:grpSpPr>
        <p:sp>
          <p:nvSpPr>
            <p:cNvPr id="3" name="Freeform 3"/>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4" name="TextBox 4"/>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sp>
        <p:nvSpPr>
          <p:cNvPr id="5" name="TextBox 5"/>
          <p:cNvSpPr txBox="1"/>
          <p:nvPr/>
        </p:nvSpPr>
        <p:spPr>
          <a:xfrm>
            <a:off x="1181100" y="4463374"/>
            <a:ext cx="8537476" cy="1322151"/>
          </a:xfrm>
          <a:prstGeom prst="rect">
            <a:avLst/>
          </a:prstGeom>
        </p:spPr>
        <p:txBody>
          <a:bodyPr lIns="0" tIns="0" rIns="0" bIns="0" rtlCol="0" anchor="t">
            <a:spAutoFit/>
          </a:bodyPr>
          <a:lstStyle/>
          <a:p>
            <a:pPr algn="l">
              <a:lnSpc>
                <a:spcPts val="9658"/>
              </a:lnSpc>
            </a:pPr>
            <a:r>
              <a:rPr lang="en-US" sz="8472" b="1">
                <a:solidFill>
                  <a:srgbClr val="1C2120"/>
                </a:solidFill>
                <a:latin typeface="Poppins Bold"/>
                <a:ea typeface="Poppins Bold"/>
                <a:cs typeface="Poppins Bold"/>
                <a:sym typeface="Poppins Bold"/>
              </a:rPr>
              <a:t>CHALLENGES</a:t>
            </a:r>
          </a:p>
        </p:txBody>
      </p:sp>
      <p:sp>
        <p:nvSpPr>
          <p:cNvPr id="6" name="TextBox 6"/>
          <p:cNvSpPr txBox="1"/>
          <p:nvPr/>
        </p:nvSpPr>
        <p:spPr>
          <a:xfrm>
            <a:off x="10497275" y="2416335"/>
            <a:ext cx="6057319" cy="1533525"/>
          </a:xfrm>
          <a:prstGeom prst="rect">
            <a:avLst/>
          </a:prstGeom>
        </p:spPr>
        <p:txBody>
          <a:bodyPr lIns="0" tIns="0" rIns="0" bIns="0" rtlCol="0" anchor="t">
            <a:spAutoFit/>
          </a:bodyPr>
          <a:lstStyle/>
          <a:p>
            <a:pPr algn="just">
              <a:lnSpc>
                <a:spcPts val="4050"/>
              </a:lnSpc>
              <a:spcBef>
                <a:spcPct val="0"/>
              </a:spcBef>
            </a:pPr>
            <a:r>
              <a:rPr lang="en-US" sz="3000" spc="48">
                <a:solidFill>
                  <a:srgbClr val="1C2120"/>
                </a:solidFill>
                <a:latin typeface="DM Sans"/>
                <a:ea typeface="DM Sans"/>
                <a:cs typeface="DM Sans"/>
                <a:sym typeface="DM Sans"/>
              </a:rPr>
              <a:t>H</a:t>
            </a:r>
            <a:r>
              <a:rPr lang="en-US" sz="3000" u="none" spc="48">
                <a:solidFill>
                  <a:srgbClr val="1C2120"/>
                </a:solidFill>
                <a:latin typeface="DM Sans"/>
                <a:ea typeface="DM Sans"/>
                <a:cs typeface="DM Sans"/>
                <a:sym typeface="DM Sans"/>
              </a:rPr>
              <a:t>andling large text data with noise</a:t>
            </a:r>
          </a:p>
          <a:p>
            <a:pPr marL="0" lvl="0" indent="0" algn="just">
              <a:lnSpc>
                <a:spcPts val="4050"/>
              </a:lnSpc>
              <a:spcBef>
                <a:spcPct val="0"/>
              </a:spcBef>
            </a:pPr>
            <a:endParaRPr lang="en-US" sz="3000" u="none" spc="48">
              <a:solidFill>
                <a:srgbClr val="1C2120"/>
              </a:solidFill>
              <a:latin typeface="DM Sans"/>
              <a:ea typeface="DM Sans"/>
              <a:cs typeface="DM Sans"/>
              <a:sym typeface="DM Sans"/>
            </a:endParaRPr>
          </a:p>
        </p:txBody>
      </p:sp>
      <p:grpSp>
        <p:nvGrpSpPr>
          <p:cNvPr id="7" name="Group 7"/>
          <p:cNvGrpSpPr/>
          <p:nvPr/>
        </p:nvGrpSpPr>
        <p:grpSpPr>
          <a:xfrm>
            <a:off x="10083134" y="3731252"/>
            <a:ext cx="6830714" cy="1183648"/>
            <a:chOff x="0" y="0"/>
            <a:chExt cx="2286638" cy="396236"/>
          </a:xfrm>
        </p:grpSpPr>
        <p:sp>
          <p:nvSpPr>
            <p:cNvPr id="8" name="Freeform 8"/>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9" name="TextBox 9"/>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grpSp>
        <p:nvGrpSpPr>
          <p:cNvPr id="10" name="Group 10"/>
          <p:cNvGrpSpPr/>
          <p:nvPr/>
        </p:nvGrpSpPr>
        <p:grpSpPr>
          <a:xfrm>
            <a:off x="10083134" y="8254320"/>
            <a:ext cx="6830714" cy="1183648"/>
            <a:chOff x="0" y="0"/>
            <a:chExt cx="2286638" cy="396236"/>
          </a:xfrm>
        </p:grpSpPr>
        <p:sp>
          <p:nvSpPr>
            <p:cNvPr id="11" name="Freeform 11"/>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2" name="TextBox 12"/>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grpSp>
        <p:nvGrpSpPr>
          <p:cNvPr id="13" name="Group 13"/>
          <p:cNvGrpSpPr/>
          <p:nvPr/>
        </p:nvGrpSpPr>
        <p:grpSpPr>
          <a:xfrm>
            <a:off x="10110578" y="6553706"/>
            <a:ext cx="6830714" cy="1183648"/>
            <a:chOff x="0" y="0"/>
            <a:chExt cx="2286638" cy="396236"/>
          </a:xfrm>
        </p:grpSpPr>
        <p:sp>
          <p:nvSpPr>
            <p:cNvPr id="14" name="Freeform 14"/>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5" name="TextBox 15"/>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grpSp>
        <p:nvGrpSpPr>
          <p:cNvPr id="16" name="Group 16"/>
          <p:cNvGrpSpPr/>
          <p:nvPr/>
        </p:nvGrpSpPr>
        <p:grpSpPr>
          <a:xfrm>
            <a:off x="10110578" y="5143500"/>
            <a:ext cx="6830714" cy="1183648"/>
            <a:chOff x="0" y="0"/>
            <a:chExt cx="2286638" cy="396236"/>
          </a:xfrm>
        </p:grpSpPr>
        <p:sp>
          <p:nvSpPr>
            <p:cNvPr id="17" name="Freeform 17"/>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8" name="TextBox 18"/>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sp>
        <p:nvSpPr>
          <p:cNvPr id="19" name="TextBox 19"/>
          <p:cNvSpPr txBox="1"/>
          <p:nvPr/>
        </p:nvSpPr>
        <p:spPr>
          <a:xfrm>
            <a:off x="10497275" y="3902235"/>
            <a:ext cx="6057319" cy="1533525"/>
          </a:xfrm>
          <a:prstGeom prst="rect">
            <a:avLst/>
          </a:prstGeom>
        </p:spPr>
        <p:txBody>
          <a:bodyPr lIns="0" tIns="0" rIns="0" bIns="0" rtlCol="0" anchor="t">
            <a:spAutoFit/>
          </a:bodyPr>
          <a:lstStyle/>
          <a:p>
            <a:pPr algn="just">
              <a:lnSpc>
                <a:spcPts val="4050"/>
              </a:lnSpc>
              <a:spcBef>
                <a:spcPct val="0"/>
              </a:spcBef>
            </a:pPr>
            <a:r>
              <a:rPr lang="en-US" sz="3000" spc="48">
                <a:solidFill>
                  <a:srgbClr val="1C2120"/>
                </a:solidFill>
                <a:latin typeface="DM Sans"/>
                <a:ea typeface="DM Sans"/>
                <a:cs typeface="DM Sans"/>
                <a:sym typeface="DM Sans"/>
              </a:rPr>
              <a:t>Imb</a:t>
            </a:r>
            <a:r>
              <a:rPr lang="en-US" sz="3000" u="none" spc="48">
                <a:solidFill>
                  <a:srgbClr val="1C2120"/>
                </a:solidFill>
                <a:latin typeface="DM Sans"/>
                <a:ea typeface="DM Sans"/>
                <a:cs typeface="DM Sans"/>
                <a:sym typeface="DM Sans"/>
              </a:rPr>
              <a:t>alanced dataset: more ham than spam</a:t>
            </a:r>
          </a:p>
          <a:p>
            <a:pPr marL="0" lvl="0" indent="0" algn="just">
              <a:lnSpc>
                <a:spcPts val="4050"/>
              </a:lnSpc>
              <a:spcBef>
                <a:spcPct val="0"/>
              </a:spcBef>
            </a:pPr>
            <a:endParaRPr lang="en-US" sz="3000" u="none" spc="48">
              <a:solidFill>
                <a:srgbClr val="1C2120"/>
              </a:solidFill>
              <a:latin typeface="DM Sans"/>
              <a:ea typeface="DM Sans"/>
              <a:cs typeface="DM Sans"/>
              <a:sym typeface="DM Sans"/>
            </a:endParaRPr>
          </a:p>
        </p:txBody>
      </p:sp>
      <p:sp>
        <p:nvSpPr>
          <p:cNvPr id="20" name="TextBox 20"/>
          <p:cNvSpPr txBox="1"/>
          <p:nvPr/>
        </p:nvSpPr>
        <p:spPr>
          <a:xfrm>
            <a:off x="10497275" y="5388135"/>
            <a:ext cx="6057319" cy="504825"/>
          </a:xfrm>
          <a:prstGeom prst="rect">
            <a:avLst/>
          </a:prstGeom>
        </p:spPr>
        <p:txBody>
          <a:bodyPr lIns="0" tIns="0" rIns="0" bIns="0" rtlCol="0" anchor="t">
            <a:spAutoFit/>
          </a:bodyPr>
          <a:lstStyle/>
          <a:p>
            <a:pPr marL="0" lvl="0" indent="0" algn="just">
              <a:lnSpc>
                <a:spcPts val="4050"/>
              </a:lnSpc>
              <a:spcBef>
                <a:spcPct val="0"/>
              </a:spcBef>
            </a:pPr>
            <a:r>
              <a:rPr lang="en-US" sz="3000" spc="48">
                <a:solidFill>
                  <a:srgbClr val="1C2120"/>
                </a:solidFill>
                <a:latin typeface="DM Sans"/>
                <a:ea typeface="DM Sans"/>
                <a:cs typeface="DM Sans"/>
                <a:sym typeface="DM Sans"/>
              </a:rPr>
              <a:t>Dyn</a:t>
            </a:r>
            <a:r>
              <a:rPr lang="en-US" sz="3000" u="none" spc="48">
                <a:solidFill>
                  <a:srgbClr val="1C2120"/>
                </a:solidFill>
                <a:latin typeface="DM Sans"/>
                <a:ea typeface="DM Sans"/>
                <a:cs typeface="DM Sans"/>
                <a:sym typeface="DM Sans"/>
              </a:rPr>
              <a:t>amic nature of spam content</a:t>
            </a:r>
          </a:p>
        </p:txBody>
      </p:sp>
      <p:sp>
        <p:nvSpPr>
          <p:cNvPr id="21" name="TextBox 21"/>
          <p:cNvSpPr txBox="1"/>
          <p:nvPr/>
        </p:nvSpPr>
        <p:spPr>
          <a:xfrm>
            <a:off x="10497275" y="6508123"/>
            <a:ext cx="6057319" cy="1533525"/>
          </a:xfrm>
          <a:prstGeom prst="rect">
            <a:avLst/>
          </a:prstGeom>
        </p:spPr>
        <p:txBody>
          <a:bodyPr lIns="0" tIns="0" rIns="0" bIns="0" rtlCol="0" anchor="t">
            <a:spAutoFit/>
          </a:bodyPr>
          <a:lstStyle/>
          <a:p>
            <a:pPr algn="l">
              <a:lnSpc>
                <a:spcPts val="4050"/>
              </a:lnSpc>
              <a:spcBef>
                <a:spcPct val="0"/>
              </a:spcBef>
            </a:pPr>
            <a:r>
              <a:rPr lang="en-US" sz="3000" spc="48">
                <a:solidFill>
                  <a:srgbClr val="1C2120"/>
                </a:solidFill>
                <a:latin typeface="DM Sans"/>
                <a:ea typeface="DM Sans"/>
                <a:cs typeface="DM Sans"/>
                <a:sym typeface="DM Sans"/>
              </a:rPr>
              <a:t>Cho</a:t>
            </a:r>
            <a:r>
              <a:rPr lang="en-US" sz="3000" u="none" spc="48">
                <a:solidFill>
                  <a:srgbClr val="1C2120"/>
                </a:solidFill>
                <a:latin typeface="DM Sans"/>
                <a:ea typeface="DM Sans"/>
                <a:cs typeface="DM Sans"/>
                <a:sym typeface="DM Sans"/>
              </a:rPr>
              <a:t>osing optimal feature extraction</a:t>
            </a:r>
          </a:p>
          <a:p>
            <a:pPr marL="0" lvl="0" indent="0" algn="l">
              <a:lnSpc>
                <a:spcPts val="4050"/>
              </a:lnSpc>
              <a:spcBef>
                <a:spcPct val="0"/>
              </a:spcBef>
            </a:pPr>
            <a:endParaRPr lang="en-US" sz="3000" u="none" spc="48">
              <a:solidFill>
                <a:srgbClr val="1C2120"/>
              </a:solidFill>
              <a:latin typeface="DM Sans"/>
              <a:ea typeface="DM Sans"/>
              <a:cs typeface="DM Sans"/>
              <a:sym typeface="DM Sans"/>
            </a:endParaRPr>
          </a:p>
        </p:txBody>
      </p:sp>
      <p:sp>
        <p:nvSpPr>
          <p:cNvPr id="22" name="TextBox 22"/>
          <p:cNvSpPr txBox="1"/>
          <p:nvPr/>
        </p:nvSpPr>
        <p:spPr>
          <a:xfrm>
            <a:off x="10469832" y="8450544"/>
            <a:ext cx="6057319" cy="1019175"/>
          </a:xfrm>
          <a:prstGeom prst="rect">
            <a:avLst/>
          </a:prstGeom>
        </p:spPr>
        <p:txBody>
          <a:bodyPr lIns="0" tIns="0" rIns="0" bIns="0" rtlCol="0" anchor="t">
            <a:spAutoFit/>
          </a:bodyPr>
          <a:lstStyle/>
          <a:p>
            <a:pPr algn="just">
              <a:lnSpc>
                <a:spcPts val="4050"/>
              </a:lnSpc>
              <a:spcBef>
                <a:spcPct val="0"/>
              </a:spcBef>
            </a:pPr>
            <a:r>
              <a:rPr lang="en-US" sz="3000" spc="48">
                <a:solidFill>
                  <a:srgbClr val="1C2120"/>
                </a:solidFill>
                <a:latin typeface="DM Sans"/>
                <a:ea typeface="DM Sans"/>
                <a:cs typeface="DM Sans"/>
                <a:sym typeface="DM Sans"/>
              </a:rPr>
              <a:t>Real‑</a:t>
            </a:r>
            <a:r>
              <a:rPr lang="en-US" sz="3000" u="none" spc="48">
                <a:solidFill>
                  <a:srgbClr val="1C2120"/>
                </a:solidFill>
                <a:latin typeface="DM Sans"/>
                <a:ea typeface="DM Sans"/>
                <a:cs typeface="DM Sans"/>
                <a:sym typeface="DM Sans"/>
              </a:rPr>
              <a:t>time classification speed</a:t>
            </a:r>
          </a:p>
          <a:p>
            <a:pPr marL="0" lvl="0" indent="0" algn="just">
              <a:lnSpc>
                <a:spcPts val="4050"/>
              </a:lnSpc>
              <a:spcBef>
                <a:spcPct val="0"/>
              </a:spcBef>
            </a:pPr>
            <a:endParaRPr lang="en-US" sz="3000" u="none" spc="48">
              <a:solidFill>
                <a:srgbClr val="1C2120"/>
              </a:solidFill>
              <a:latin typeface="DM Sans"/>
              <a:ea typeface="DM Sans"/>
              <a:cs typeface="DM Sans"/>
              <a:sym typeface="DM Sans"/>
            </a:endParaRPr>
          </a:p>
        </p:txBody>
      </p:sp>
      <p:sp>
        <p:nvSpPr>
          <p:cNvPr id="23" name="Freeform 23"/>
          <p:cNvSpPr/>
          <p:nvPr/>
        </p:nvSpPr>
        <p:spPr>
          <a:xfrm>
            <a:off x="16424288" y="244263"/>
            <a:ext cx="1670025" cy="2141058"/>
          </a:xfrm>
          <a:custGeom>
            <a:avLst/>
            <a:gdLst/>
            <a:ahLst/>
            <a:cxnLst/>
            <a:rect l="l" t="t" r="r" b="b"/>
            <a:pathLst>
              <a:path w="1670025" h="2141058">
                <a:moveTo>
                  <a:pt x="0" y="0"/>
                </a:moveTo>
                <a:lnTo>
                  <a:pt x="1670024" y="0"/>
                </a:lnTo>
                <a:lnTo>
                  <a:pt x="1670024" y="2141058"/>
                </a:lnTo>
                <a:lnTo>
                  <a:pt x="0" y="2141058"/>
                </a:lnTo>
                <a:lnTo>
                  <a:pt x="0" y="0"/>
                </a:lnTo>
                <a:close/>
              </a:path>
            </a:pathLst>
          </a:custGeom>
          <a:blipFill>
            <a:blip r:embed="rId2"/>
            <a:stretch>
              <a:fillRect/>
            </a:stretch>
          </a:blipFill>
        </p:spPr>
      </p:sp>
      <p:sp>
        <p:nvSpPr>
          <p:cNvPr id="24" name="Freeform 24"/>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3"/>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83134" y="2319003"/>
            <a:ext cx="6830714" cy="1183648"/>
            <a:chOff x="0" y="0"/>
            <a:chExt cx="2286638" cy="396236"/>
          </a:xfrm>
        </p:grpSpPr>
        <p:sp>
          <p:nvSpPr>
            <p:cNvPr id="3" name="Freeform 3"/>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4" name="TextBox 4"/>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sp>
        <p:nvSpPr>
          <p:cNvPr id="5" name="TextBox 5"/>
          <p:cNvSpPr txBox="1"/>
          <p:nvPr/>
        </p:nvSpPr>
        <p:spPr>
          <a:xfrm>
            <a:off x="1203610" y="4603890"/>
            <a:ext cx="8537476" cy="2541641"/>
          </a:xfrm>
          <a:prstGeom prst="rect">
            <a:avLst/>
          </a:prstGeom>
        </p:spPr>
        <p:txBody>
          <a:bodyPr lIns="0" tIns="0" rIns="0" bIns="0" rtlCol="0" anchor="t">
            <a:spAutoFit/>
          </a:bodyPr>
          <a:lstStyle/>
          <a:p>
            <a:pPr algn="l">
              <a:lnSpc>
                <a:spcPts val="9658"/>
              </a:lnSpc>
            </a:pPr>
            <a:r>
              <a:rPr lang="en-US" sz="8472" b="1">
                <a:solidFill>
                  <a:srgbClr val="1C2120"/>
                </a:solidFill>
                <a:latin typeface="Poppins Bold"/>
                <a:ea typeface="Poppins Bold"/>
                <a:cs typeface="Poppins Bold"/>
                <a:sym typeface="Poppins Bold"/>
              </a:rPr>
              <a:t>Future Scope</a:t>
            </a:r>
          </a:p>
          <a:p>
            <a:pPr algn="l">
              <a:lnSpc>
                <a:spcPts val="9658"/>
              </a:lnSpc>
            </a:pPr>
            <a:endParaRPr lang="en-US" sz="8472" b="1">
              <a:solidFill>
                <a:srgbClr val="1C2120"/>
              </a:solidFill>
              <a:latin typeface="Poppins Bold"/>
              <a:ea typeface="Poppins Bold"/>
              <a:cs typeface="Poppins Bold"/>
              <a:sym typeface="Poppins Bold"/>
            </a:endParaRPr>
          </a:p>
        </p:txBody>
      </p:sp>
      <p:sp>
        <p:nvSpPr>
          <p:cNvPr id="6" name="TextBox 6"/>
          <p:cNvSpPr txBox="1"/>
          <p:nvPr/>
        </p:nvSpPr>
        <p:spPr>
          <a:xfrm>
            <a:off x="10497275" y="2416335"/>
            <a:ext cx="6057319" cy="1533525"/>
          </a:xfrm>
          <a:prstGeom prst="rect">
            <a:avLst/>
          </a:prstGeom>
        </p:spPr>
        <p:txBody>
          <a:bodyPr lIns="0" tIns="0" rIns="0" bIns="0" rtlCol="0" anchor="t">
            <a:spAutoFit/>
          </a:bodyPr>
          <a:lstStyle/>
          <a:p>
            <a:pPr algn="just">
              <a:lnSpc>
                <a:spcPts val="4050"/>
              </a:lnSpc>
              <a:spcBef>
                <a:spcPct val="0"/>
              </a:spcBef>
            </a:pPr>
            <a:r>
              <a:rPr lang="en-US" sz="3000" spc="48">
                <a:solidFill>
                  <a:srgbClr val="1C2120"/>
                </a:solidFill>
                <a:latin typeface="DM Sans"/>
                <a:ea typeface="DM Sans"/>
                <a:cs typeface="DM Sans"/>
                <a:sym typeface="DM Sans"/>
              </a:rPr>
              <a:t>I</a:t>
            </a:r>
            <a:r>
              <a:rPr lang="en-US" sz="3000" u="none" spc="48">
                <a:solidFill>
                  <a:srgbClr val="1C2120"/>
                </a:solidFill>
                <a:latin typeface="DM Sans"/>
                <a:ea typeface="DM Sans"/>
                <a:cs typeface="DM Sans"/>
                <a:sym typeface="DM Sans"/>
              </a:rPr>
              <a:t>ntegration with deep learning (LSTM, BERT)</a:t>
            </a:r>
          </a:p>
          <a:p>
            <a:pPr marL="0" lvl="0" indent="0" algn="just">
              <a:lnSpc>
                <a:spcPts val="4050"/>
              </a:lnSpc>
              <a:spcBef>
                <a:spcPct val="0"/>
              </a:spcBef>
            </a:pPr>
            <a:endParaRPr lang="en-US" sz="3000" u="none" spc="48">
              <a:solidFill>
                <a:srgbClr val="1C2120"/>
              </a:solidFill>
              <a:latin typeface="DM Sans"/>
              <a:ea typeface="DM Sans"/>
              <a:cs typeface="DM Sans"/>
              <a:sym typeface="DM Sans"/>
            </a:endParaRPr>
          </a:p>
        </p:txBody>
      </p:sp>
      <p:grpSp>
        <p:nvGrpSpPr>
          <p:cNvPr id="7" name="Group 7"/>
          <p:cNvGrpSpPr/>
          <p:nvPr/>
        </p:nvGrpSpPr>
        <p:grpSpPr>
          <a:xfrm>
            <a:off x="10083134" y="3731252"/>
            <a:ext cx="6830714" cy="1183648"/>
            <a:chOff x="0" y="0"/>
            <a:chExt cx="2286638" cy="396236"/>
          </a:xfrm>
        </p:grpSpPr>
        <p:sp>
          <p:nvSpPr>
            <p:cNvPr id="8" name="Freeform 8"/>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9" name="TextBox 9"/>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grpSp>
        <p:nvGrpSpPr>
          <p:cNvPr id="10" name="Group 10"/>
          <p:cNvGrpSpPr/>
          <p:nvPr/>
        </p:nvGrpSpPr>
        <p:grpSpPr>
          <a:xfrm>
            <a:off x="10083134" y="8254320"/>
            <a:ext cx="6830714" cy="1183648"/>
            <a:chOff x="0" y="0"/>
            <a:chExt cx="2286638" cy="396236"/>
          </a:xfrm>
        </p:grpSpPr>
        <p:sp>
          <p:nvSpPr>
            <p:cNvPr id="11" name="Freeform 11"/>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2" name="TextBox 12"/>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grpSp>
        <p:nvGrpSpPr>
          <p:cNvPr id="13" name="Group 13"/>
          <p:cNvGrpSpPr/>
          <p:nvPr/>
        </p:nvGrpSpPr>
        <p:grpSpPr>
          <a:xfrm>
            <a:off x="10110578" y="6553706"/>
            <a:ext cx="6830714" cy="1183648"/>
            <a:chOff x="0" y="0"/>
            <a:chExt cx="2286638" cy="396236"/>
          </a:xfrm>
        </p:grpSpPr>
        <p:sp>
          <p:nvSpPr>
            <p:cNvPr id="14" name="Freeform 14"/>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5" name="TextBox 15"/>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grpSp>
        <p:nvGrpSpPr>
          <p:cNvPr id="16" name="Group 16"/>
          <p:cNvGrpSpPr/>
          <p:nvPr/>
        </p:nvGrpSpPr>
        <p:grpSpPr>
          <a:xfrm>
            <a:off x="10110578" y="5143500"/>
            <a:ext cx="6830714" cy="1183648"/>
            <a:chOff x="0" y="0"/>
            <a:chExt cx="2286638" cy="396236"/>
          </a:xfrm>
        </p:grpSpPr>
        <p:sp>
          <p:nvSpPr>
            <p:cNvPr id="17" name="Freeform 17"/>
            <p:cNvSpPr/>
            <p:nvPr/>
          </p:nvSpPr>
          <p:spPr>
            <a:xfrm>
              <a:off x="0" y="0"/>
              <a:ext cx="2286638" cy="396236"/>
            </a:xfrm>
            <a:custGeom>
              <a:avLst/>
              <a:gdLst/>
              <a:ahLst/>
              <a:cxnLst/>
              <a:rect l="l" t="t" r="r" b="b"/>
              <a:pathLst>
                <a:path w="2286638" h="396236">
                  <a:moveTo>
                    <a:pt x="56670" y="0"/>
                  </a:moveTo>
                  <a:lnTo>
                    <a:pt x="2229968" y="0"/>
                  </a:lnTo>
                  <a:cubicBezTo>
                    <a:pt x="2261266" y="0"/>
                    <a:pt x="2286638" y="25372"/>
                    <a:pt x="2286638" y="56670"/>
                  </a:cubicBezTo>
                  <a:lnTo>
                    <a:pt x="2286638" y="339566"/>
                  </a:lnTo>
                  <a:cubicBezTo>
                    <a:pt x="2286638" y="354596"/>
                    <a:pt x="2280667" y="369010"/>
                    <a:pt x="2270040" y="379638"/>
                  </a:cubicBezTo>
                  <a:cubicBezTo>
                    <a:pt x="2259412" y="390265"/>
                    <a:pt x="2244998" y="396236"/>
                    <a:pt x="2229968" y="396236"/>
                  </a:cubicBezTo>
                  <a:lnTo>
                    <a:pt x="56670" y="396236"/>
                  </a:lnTo>
                  <a:cubicBezTo>
                    <a:pt x="41640" y="396236"/>
                    <a:pt x="27226" y="390265"/>
                    <a:pt x="16598" y="379638"/>
                  </a:cubicBezTo>
                  <a:cubicBezTo>
                    <a:pt x="5971" y="369010"/>
                    <a:pt x="0" y="354596"/>
                    <a:pt x="0" y="339566"/>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id="18" name="TextBox 18"/>
            <p:cNvSpPr txBox="1"/>
            <p:nvPr/>
          </p:nvSpPr>
          <p:spPr>
            <a:xfrm>
              <a:off x="0" y="85725"/>
              <a:ext cx="2286638" cy="310511"/>
            </a:xfrm>
            <a:prstGeom prst="rect">
              <a:avLst/>
            </a:prstGeom>
          </p:spPr>
          <p:txBody>
            <a:bodyPr lIns="50800" tIns="50800" rIns="50800" bIns="50800" rtlCol="0" anchor="ctr"/>
            <a:lstStyle/>
            <a:p>
              <a:pPr algn="ctr">
                <a:lnSpc>
                  <a:spcPts val="1925"/>
                </a:lnSpc>
              </a:pPr>
              <a:endParaRPr/>
            </a:p>
          </p:txBody>
        </p:sp>
      </p:grpSp>
      <p:sp>
        <p:nvSpPr>
          <p:cNvPr id="19" name="TextBox 19"/>
          <p:cNvSpPr txBox="1"/>
          <p:nvPr/>
        </p:nvSpPr>
        <p:spPr>
          <a:xfrm>
            <a:off x="10497275" y="3902235"/>
            <a:ext cx="6057319" cy="1533525"/>
          </a:xfrm>
          <a:prstGeom prst="rect">
            <a:avLst/>
          </a:prstGeom>
        </p:spPr>
        <p:txBody>
          <a:bodyPr lIns="0" tIns="0" rIns="0" bIns="0" rtlCol="0" anchor="t">
            <a:spAutoFit/>
          </a:bodyPr>
          <a:lstStyle/>
          <a:p>
            <a:pPr algn="just">
              <a:lnSpc>
                <a:spcPts val="4050"/>
              </a:lnSpc>
              <a:spcBef>
                <a:spcPct val="0"/>
              </a:spcBef>
            </a:pPr>
            <a:r>
              <a:rPr lang="en-US" sz="3000" spc="48">
                <a:solidFill>
                  <a:srgbClr val="1C2120"/>
                </a:solidFill>
                <a:latin typeface="DM Sans"/>
                <a:ea typeface="DM Sans"/>
                <a:cs typeface="DM Sans"/>
                <a:sym typeface="DM Sans"/>
              </a:rPr>
              <a:t>Mobi</a:t>
            </a:r>
            <a:r>
              <a:rPr lang="en-US" sz="3000" u="none" spc="48">
                <a:solidFill>
                  <a:srgbClr val="1C2120"/>
                </a:solidFill>
                <a:latin typeface="DM Sans"/>
                <a:ea typeface="DM Sans"/>
                <a:cs typeface="DM Sans"/>
                <a:sym typeface="DM Sans"/>
              </a:rPr>
              <a:t>le &amp; Web application deployment</a:t>
            </a:r>
          </a:p>
          <a:p>
            <a:pPr marL="0" lvl="0" indent="0" algn="just">
              <a:lnSpc>
                <a:spcPts val="4050"/>
              </a:lnSpc>
              <a:spcBef>
                <a:spcPct val="0"/>
              </a:spcBef>
            </a:pPr>
            <a:endParaRPr lang="en-US" sz="3000" u="none" spc="48">
              <a:solidFill>
                <a:srgbClr val="1C2120"/>
              </a:solidFill>
              <a:latin typeface="DM Sans"/>
              <a:ea typeface="DM Sans"/>
              <a:cs typeface="DM Sans"/>
              <a:sym typeface="DM Sans"/>
            </a:endParaRPr>
          </a:p>
        </p:txBody>
      </p:sp>
      <p:sp>
        <p:nvSpPr>
          <p:cNvPr id="20" name="TextBox 20"/>
          <p:cNvSpPr txBox="1"/>
          <p:nvPr/>
        </p:nvSpPr>
        <p:spPr>
          <a:xfrm>
            <a:off x="10497275" y="5388135"/>
            <a:ext cx="6057319" cy="1019175"/>
          </a:xfrm>
          <a:prstGeom prst="rect">
            <a:avLst/>
          </a:prstGeom>
        </p:spPr>
        <p:txBody>
          <a:bodyPr lIns="0" tIns="0" rIns="0" bIns="0" rtlCol="0" anchor="t">
            <a:spAutoFit/>
          </a:bodyPr>
          <a:lstStyle/>
          <a:p>
            <a:pPr algn="just">
              <a:lnSpc>
                <a:spcPts val="4050"/>
              </a:lnSpc>
              <a:spcBef>
                <a:spcPct val="0"/>
              </a:spcBef>
            </a:pPr>
            <a:r>
              <a:rPr lang="en-US" sz="3000" spc="48">
                <a:solidFill>
                  <a:srgbClr val="1C2120"/>
                </a:solidFill>
                <a:latin typeface="DM Sans"/>
                <a:ea typeface="DM Sans"/>
                <a:cs typeface="DM Sans"/>
                <a:sym typeface="DM Sans"/>
              </a:rPr>
              <a:t>Mo</a:t>
            </a:r>
            <a:r>
              <a:rPr lang="en-US" sz="3000" u="none" spc="48">
                <a:solidFill>
                  <a:srgbClr val="1C2120"/>
                </a:solidFill>
                <a:latin typeface="DM Sans"/>
                <a:ea typeface="DM Sans"/>
                <a:cs typeface="DM Sans"/>
                <a:sym typeface="DM Sans"/>
              </a:rPr>
              <a:t>re ML models for comparison</a:t>
            </a:r>
          </a:p>
          <a:p>
            <a:pPr marL="0" lvl="0" indent="0" algn="just">
              <a:lnSpc>
                <a:spcPts val="4050"/>
              </a:lnSpc>
              <a:spcBef>
                <a:spcPct val="0"/>
              </a:spcBef>
            </a:pPr>
            <a:endParaRPr lang="en-US" sz="3000" u="none" spc="48">
              <a:solidFill>
                <a:srgbClr val="1C2120"/>
              </a:solidFill>
              <a:latin typeface="DM Sans"/>
              <a:ea typeface="DM Sans"/>
              <a:cs typeface="DM Sans"/>
              <a:sym typeface="DM Sans"/>
            </a:endParaRPr>
          </a:p>
        </p:txBody>
      </p:sp>
      <p:sp>
        <p:nvSpPr>
          <p:cNvPr id="21" name="TextBox 21"/>
          <p:cNvSpPr txBox="1"/>
          <p:nvPr/>
        </p:nvSpPr>
        <p:spPr>
          <a:xfrm>
            <a:off x="10497275" y="6807360"/>
            <a:ext cx="6057319" cy="1019175"/>
          </a:xfrm>
          <a:prstGeom prst="rect">
            <a:avLst/>
          </a:prstGeom>
        </p:spPr>
        <p:txBody>
          <a:bodyPr lIns="0" tIns="0" rIns="0" bIns="0" rtlCol="0" anchor="t">
            <a:spAutoFit/>
          </a:bodyPr>
          <a:lstStyle/>
          <a:p>
            <a:pPr algn="l">
              <a:lnSpc>
                <a:spcPts val="4050"/>
              </a:lnSpc>
              <a:spcBef>
                <a:spcPct val="0"/>
              </a:spcBef>
            </a:pPr>
            <a:r>
              <a:rPr lang="en-US" sz="3000" spc="48">
                <a:solidFill>
                  <a:srgbClr val="1C2120"/>
                </a:solidFill>
                <a:latin typeface="DM Sans"/>
                <a:ea typeface="DM Sans"/>
                <a:cs typeface="DM Sans"/>
                <a:sym typeface="DM Sans"/>
              </a:rPr>
              <a:t>La</a:t>
            </a:r>
            <a:r>
              <a:rPr lang="en-US" sz="3000" u="none" spc="48">
                <a:solidFill>
                  <a:srgbClr val="1C2120"/>
                </a:solidFill>
                <a:latin typeface="DM Sans"/>
                <a:ea typeface="DM Sans"/>
                <a:cs typeface="DM Sans"/>
                <a:sym typeface="DM Sans"/>
              </a:rPr>
              <a:t>nguage translation support</a:t>
            </a:r>
          </a:p>
          <a:p>
            <a:pPr marL="0" lvl="0" indent="0" algn="l">
              <a:lnSpc>
                <a:spcPts val="4050"/>
              </a:lnSpc>
              <a:spcBef>
                <a:spcPct val="0"/>
              </a:spcBef>
            </a:pPr>
            <a:endParaRPr lang="en-US" sz="3000" u="none" spc="48">
              <a:solidFill>
                <a:srgbClr val="1C2120"/>
              </a:solidFill>
              <a:latin typeface="DM Sans"/>
              <a:ea typeface="DM Sans"/>
              <a:cs typeface="DM Sans"/>
              <a:sym typeface="DM Sans"/>
            </a:endParaRPr>
          </a:p>
        </p:txBody>
      </p:sp>
      <p:sp>
        <p:nvSpPr>
          <p:cNvPr id="22" name="TextBox 22"/>
          <p:cNvSpPr txBox="1"/>
          <p:nvPr/>
        </p:nvSpPr>
        <p:spPr>
          <a:xfrm>
            <a:off x="10469832" y="8206695"/>
            <a:ext cx="6057319" cy="1533525"/>
          </a:xfrm>
          <a:prstGeom prst="rect">
            <a:avLst/>
          </a:prstGeom>
        </p:spPr>
        <p:txBody>
          <a:bodyPr lIns="0" tIns="0" rIns="0" bIns="0" rtlCol="0" anchor="t">
            <a:spAutoFit/>
          </a:bodyPr>
          <a:lstStyle/>
          <a:p>
            <a:pPr algn="just">
              <a:lnSpc>
                <a:spcPts val="4050"/>
              </a:lnSpc>
              <a:spcBef>
                <a:spcPct val="0"/>
              </a:spcBef>
            </a:pPr>
            <a:r>
              <a:rPr lang="en-US" sz="3000" spc="48">
                <a:solidFill>
                  <a:srgbClr val="1C2120"/>
                </a:solidFill>
                <a:latin typeface="DM Sans"/>
                <a:ea typeface="DM Sans"/>
                <a:cs typeface="DM Sans"/>
                <a:sym typeface="DM Sans"/>
              </a:rPr>
              <a:t>Attach</a:t>
            </a:r>
            <a:r>
              <a:rPr lang="en-US" sz="3000" u="none" spc="48">
                <a:solidFill>
                  <a:srgbClr val="1C2120"/>
                </a:solidFill>
                <a:latin typeface="DM Sans"/>
                <a:ea typeface="DM Sans"/>
                <a:cs typeface="DM Sans"/>
                <a:sym typeface="DM Sans"/>
              </a:rPr>
              <a:t>ment &amp; URL analysis for phishing detection</a:t>
            </a:r>
          </a:p>
          <a:p>
            <a:pPr marL="0" lvl="0" indent="0" algn="just">
              <a:lnSpc>
                <a:spcPts val="4050"/>
              </a:lnSpc>
              <a:spcBef>
                <a:spcPct val="0"/>
              </a:spcBef>
            </a:pPr>
            <a:endParaRPr lang="en-US" sz="3000" u="none" spc="48">
              <a:solidFill>
                <a:srgbClr val="1C2120"/>
              </a:solidFill>
              <a:latin typeface="DM Sans"/>
              <a:ea typeface="DM Sans"/>
              <a:cs typeface="DM Sans"/>
              <a:sym typeface="DM Sans"/>
            </a:endParaRPr>
          </a:p>
        </p:txBody>
      </p:sp>
      <p:sp>
        <p:nvSpPr>
          <p:cNvPr id="23" name="Freeform 23"/>
          <p:cNvSpPr/>
          <p:nvPr/>
        </p:nvSpPr>
        <p:spPr>
          <a:xfrm>
            <a:off x="16424288" y="244263"/>
            <a:ext cx="1670025" cy="2141058"/>
          </a:xfrm>
          <a:custGeom>
            <a:avLst/>
            <a:gdLst/>
            <a:ahLst/>
            <a:cxnLst/>
            <a:rect l="l" t="t" r="r" b="b"/>
            <a:pathLst>
              <a:path w="1670025" h="2141058">
                <a:moveTo>
                  <a:pt x="0" y="0"/>
                </a:moveTo>
                <a:lnTo>
                  <a:pt x="1670024" y="0"/>
                </a:lnTo>
                <a:lnTo>
                  <a:pt x="1670024" y="2141058"/>
                </a:lnTo>
                <a:lnTo>
                  <a:pt x="0" y="2141058"/>
                </a:lnTo>
                <a:lnTo>
                  <a:pt x="0" y="0"/>
                </a:lnTo>
                <a:close/>
              </a:path>
            </a:pathLst>
          </a:custGeom>
          <a:blipFill>
            <a:blip r:embed="rId2"/>
            <a:stretch>
              <a:fillRect/>
            </a:stretch>
          </a:blipFill>
        </p:spPr>
      </p:sp>
      <p:sp>
        <p:nvSpPr>
          <p:cNvPr id="24" name="Freeform 24"/>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3"/>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53124" y="1608960"/>
            <a:ext cx="13134876" cy="2541641"/>
          </a:xfrm>
          <a:prstGeom prst="rect">
            <a:avLst/>
          </a:prstGeom>
        </p:spPr>
        <p:txBody>
          <a:bodyPr lIns="0" tIns="0" rIns="0" bIns="0" rtlCol="0" anchor="t">
            <a:spAutoFit/>
          </a:bodyPr>
          <a:lstStyle/>
          <a:p>
            <a:pPr algn="l">
              <a:lnSpc>
                <a:spcPts val="9658"/>
              </a:lnSpc>
            </a:pPr>
            <a:r>
              <a:rPr lang="en-US" sz="8472" b="1">
                <a:solidFill>
                  <a:srgbClr val="1C2120"/>
                </a:solidFill>
                <a:latin typeface="Poppins Bold"/>
                <a:ea typeface="Poppins Bold"/>
                <a:cs typeface="Poppins Bold"/>
                <a:sym typeface="Poppins Bold"/>
              </a:rPr>
              <a:t>Conclusion</a:t>
            </a:r>
          </a:p>
          <a:p>
            <a:pPr algn="l">
              <a:lnSpc>
                <a:spcPts val="9658"/>
              </a:lnSpc>
            </a:pPr>
            <a:endParaRPr lang="en-US" sz="8472" b="1">
              <a:solidFill>
                <a:srgbClr val="1C2120"/>
              </a:solidFill>
              <a:latin typeface="Poppins Bold"/>
              <a:ea typeface="Poppins Bold"/>
              <a:cs typeface="Poppins Bold"/>
              <a:sym typeface="Poppins Bold"/>
            </a:endParaRPr>
          </a:p>
        </p:txBody>
      </p:sp>
      <p:sp>
        <p:nvSpPr>
          <p:cNvPr id="3" name="TextBox 3"/>
          <p:cNvSpPr txBox="1"/>
          <p:nvPr/>
        </p:nvSpPr>
        <p:spPr>
          <a:xfrm>
            <a:off x="1154162" y="4585554"/>
            <a:ext cx="15979676" cy="3590925"/>
          </a:xfrm>
          <a:prstGeom prst="rect">
            <a:avLst/>
          </a:prstGeom>
        </p:spPr>
        <p:txBody>
          <a:bodyPr lIns="0" tIns="0" rIns="0" bIns="0" rtlCol="0" anchor="t">
            <a:spAutoFit/>
          </a:bodyPr>
          <a:lstStyle/>
          <a:p>
            <a:pPr algn="l">
              <a:lnSpc>
                <a:spcPts val="4725"/>
              </a:lnSpc>
            </a:pPr>
            <a:r>
              <a:rPr lang="en-US" sz="3500" spc="210">
                <a:solidFill>
                  <a:srgbClr val="000000"/>
                </a:solidFill>
                <a:latin typeface="DM Sans"/>
                <a:ea typeface="DM Sans"/>
                <a:cs typeface="DM Sans"/>
                <a:sym typeface="DM Sans"/>
              </a:rPr>
              <a:t>T</a:t>
            </a:r>
            <a:r>
              <a:rPr lang="en-US" sz="3500" u="none" spc="210">
                <a:solidFill>
                  <a:srgbClr val="000000"/>
                </a:solidFill>
                <a:latin typeface="DM Sans"/>
                <a:ea typeface="DM Sans"/>
                <a:cs typeface="DM Sans"/>
                <a:sym typeface="DM Sans"/>
              </a:rPr>
              <a:t>his project successfully demonstrates efficient spam detection using text mining and machine learning techniques. By comparing Naive Bayes and SVM, the results show that SVM provides significantly higher accuracy and better classification performance. Intelligent spam filtering enhances security, saves time, and improves email communication efficiency.</a:t>
            </a:r>
          </a:p>
        </p:txBody>
      </p:sp>
      <p:sp>
        <p:nvSpPr>
          <p:cNvPr id="4" name="Freeform 4"/>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2"/>
            <a:stretch>
              <a:fillRect/>
            </a:stretch>
          </a:blipFill>
        </p:spPr>
      </p:sp>
      <p:sp>
        <p:nvSpPr>
          <p:cNvPr id="5" name="Freeform 5"/>
          <p:cNvSpPr/>
          <p:nvPr/>
        </p:nvSpPr>
        <p:spPr>
          <a:xfrm>
            <a:off x="16334837" y="295617"/>
            <a:ext cx="1670025" cy="2141058"/>
          </a:xfrm>
          <a:custGeom>
            <a:avLst/>
            <a:gdLst/>
            <a:ahLst/>
            <a:cxnLst/>
            <a:rect l="l" t="t" r="r" b="b"/>
            <a:pathLst>
              <a:path w="1670025" h="2141058">
                <a:moveTo>
                  <a:pt x="0" y="0"/>
                </a:moveTo>
                <a:lnTo>
                  <a:pt x="1670025" y="0"/>
                </a:lnTo>
                <a:lnTo>
                  <a:pt x="1670025" y="2141057"/>
                </a:lnTo>
                <a:lnTo>
                  <a:pt x="0" y="2141057"/>
                </a:lnTo>
                <a:lnTo>
                  <a:pt x="0" y="0"/>
                </a:lnTo>
                <a:close/>
              </a:path>
            </a:pathLst>
          </a:custGeom>
          <a:blipFill>
            <a:blip r:embed="rId3"/>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53124" y="2218705"/>
            <a:ext cx="13134876" cy="1322151"/>
          </a:xfrm>
          <a:prstGeom prst="rect">
            <a:avLst/>
          </a:prstGeom>
        </p:spPr>
        <p:txBody>
          <a:bodyPr lIns="0" tIns="0" rIns="0" bIns="0" rtlCol="0" anchor="t">
            <a:spAutoFit/>
          </a:bodyPr>
          <a:lstStyle/>
          <a:p>
            <a:pPr algn="l">
              <a:lnSpc>
                <a:spcPts val="9658"/>
              </a:lnSpc>
            </a:pPr>
            <a:r>
              <a:rPr lang="en-US" sz="8472" b="1">
                <a:solidFill>
                  <a:srgbClr val="1C2120"/>
                </a:solidFill>
                <a:latin typeface="Poppins Bold"/>
                <a:ea typeface="Poppins Bold"/>
                <a:cs typeface="Poppins Bold"/>
                <a:sym typeface="Poppins Bold"/>
              </a:rPr>
              <a:t> References</a:t>
            </a:r>
          </a:p>
        </p:txBody>
      </p:sp>
      <p:sp>
        <p:nvSpPr>
          <p:cNvPr id="3" name="TextBox 3"/>
          <p:cNvSpPr txBox="1"/>
          <p:nvPr/>
        </p:nvSpPr>
        <p:spPr>
          <a:xfrm>
            <a:off x="1154162" y="4585554"/>
            <a:ext cx="15979676" cy="3590925"/>
          </a:xfrm>
          <a:prstGeom prst="rect">
            <a:avLst/>
          </a:prstGeom>
        </p:spPr>
        <p:txBody>
          <a:bodyPr lIns="0" tIns="0" rIns="0" bIns="0" rtlCol="0" anchor="t">
            <a:spAutoFit/>
          </a:bodyPr>
          <a:lstStyle/>
          <a:p>
            <a:pPr marL="755651" lvl="1" indent="-377825" algn="l">
              <a:lnSpc>
                <a:spcPts val="4725"/>
              </a:lnSpc>
              <a:buAutoNum type="arabicPeriod"/>
            </a:pPr>
            <a:r>
              <a:rPr lang="en-US" sz="3500" spc="210">
                <a:solidFill>
                  <a:srgbClr val="000000"/>
                </a:solidFill>
                <a:latin typeface="DM Sans"/>
                <a:ea typeface="DM Sans"/>
                <a:cs typeface="DM Sans"/>
                <a:sym typeface="DM Sans"/>
              </a:rPr>
              <a:t>Para</a:t>
            </a:r>
            <a:r>
              <a:rPr lang="en-US" sz="3500" u="none" spc="210">
                <a:solidFill>
                  <a:srgbClr val="000000"/>
                </a:solidFill>
                <a:latin typeface="DM Sans"/>
                <a:ea typeface="DM Sans"/>
                <a:cs typeface="DM Sans"/>
                <a:sym typeface="DM Sans"/>
              </a:rPr>
              <a:t>martha I.G.N.D., “Spam Email Classification using SVM and TF-IDF”, 2023.</a:t>
            </a:r>
          </a:p>
          <a:p>
            <a:pPr marL="755651" lvl="1" indent="-377825" algn="l">
              <a:lnSpc>
                <a:spcPts val="4725"/>
              </a:lnSpc>
              <a:buAutoNum type="arabicPeriod"/>
            </a:pPr>
            <a:r>
              <a:rPr lang="en-US" sz="3500" u="none" spc="210">
                <a:solidFill>
                  <a:srgbClr val="000000"/>
                </a:solidFill>
                <a:latin typeface="DM Sans"/>
                <a:ea typeface="DM Sans"/>
                <a:cs typeface="DM Sans"/>
                <a:sym typeface="DM Sans"/>
              </a:rPr>
              <a:t>Rizka S. L., “Email Spam Detection using Naïve Bayes &amp; J48", 2022.</a:t>
            </a:r>
          </a:p>
          <a:p>
            <a:pPr marL="755651" lvl="1" indent="-377825" algn="l">
              <a:lnSpc>
                <a:spcPts val="4725"/>
              </a:lnSpc>
              <a:buAutoNum type="arabicPeriod"/>
            </a:pPr>
            <a:r>
              <a:rPr lang="en-US" sz="3500" u="none" spc="210">
                <a:solidFill>
                  <a:srgbClr val="000000"/>
                </a:solidFill>
                <a:latin typeface="DM Sans"/>
                <a:ea typeface="DM Sans"/>
                <a:cs typeface="DM Sans"/>
                <a:sym typeface="DM Sans"/>
              </a:rPr>
              <a:t>Tida V., Hsu S., “Universal Spam Detection using BERT”, 2024.</a:t>
            </a:r>
          </a:p>
          <a:p>
            <a:pPr marL="755651" lvl="1" indent="-377825" algn="l">
              <a:lnSpc>
                <a:spcPts val="4725"/>
              </a:lnSpc>
              <a:buAutoNum type="arabicPeriod"/>
            </a:pPr>
            <a:r>
              <a:rPr lang="en-US" sz="3500" u="none" spc="210">
                <a:solidFill>
                  <a:srgbClr val="000000"/>
                </a:solidFill>
                <a:latin typeface="DM Sans"/>
                <a:ea typeface="DM Sans"/>
                <a:cs typeface="DM Sans"/>
                <a:sym typeface="DM Sans"/>
              </a:rPr>
              <a:t>Ngigi S., “Survey on ML for Spam Detection”, 2024.</a:t>
            </a:r>
          </a:p>
          <a:p>
            <a:pPr marL="755651" lvl="1" indent="-377825" algn="l">
              <a:lnSpc>
                <a:spcPts val="4725"/>
              </a:lnSpc>
              <a:buAutoNum type="arabicPeriod"/>
            </a:pPr>
            <a:r>
              <a:rPr lang="en-US" sz="3500" u="none" spc="210">
                <a:solidFill>
                  <a:srgbClr val="000000"/>
                </a:solidFill>
                <a:latin typeface="DM Sans"/>
                <a:ea typeface="DM Sans"/>
                <a:cs typeface="DM Sans"/>
                <a:sym typeface="DM Sans"/>
              </a:rPr>
              <a:t>IIETA, “Deep Learning for Email Spam Classification”, 2023.</a:t>
            </a:r>
          </a:p>
        </p:txBody>
      </p:sp>
      <p:sp>
        <p:nvSpPr>
          <p:cNvPr id="4" name="Freeform 4"/>
          <p:cNvSpPr/>
          <p:nvPr/>
        </p:nvSpPr>
        <p:spPr>
          <a:xfrm>
            <a:off x="233532" y="295617"/>
            <a:ext cx="2325215" cy="2294004"/>
          </a:xfrm>
          <a:custGeom>
            <a:avLst/>
            <a:gdLst/>
            <a:ahLst/>
            <a:cxnLst/>
            <a:rect l="l" t="t" r="r" b="b"/>
            <a:pathLst>
              <a:path w="2325215" h="2294004">
                <a:moveTo>
                  <a:pt x="0" y="0"/>
                </a:moveTo>
                <a:lnTo>
                  <a:pt x="2325214" y="0"/>
                </a:lnTo>
                <a:lnTo>
                  <a:pt x="2325214" y="2294004"/>
                </a:lnTo>
                <a:lnTo>
                  <a:pt x="0" y="2294004"/>
                </a:lnTo>
                <a:lnTo>
                  <a:pt x="0" y="0"/>
                </a:lnTo>
                <a:close/>
              </a:path>
            </a:pathLst>
          </a:custGeom>
          <a:blipFill>
            <a:blip r:embed="rId2"/>
            <a:stretch>
              <a:fillRect/>
            </a:stretch>
          </a:blipFill>
        </p:spPr>
      </p:sp>
      <p:sp>
        <p:nvSpPr>
          <p:cNvPr id="5" name="Freeform 5"/>
          <p:cNvSpPr/>
          <p:nvPr/>
        </p:nvSpPr>
        <p:spPr>
          <a:xfrm>
            <a:off x="16334837" y="295617"/>
            <a:ext cx="1670025" cy="2141058"/>
          </a:xfrm>
          <a:custGeom>
            <a:avLst/>
            <a:gdLst/>
            <a:ahLst/>
            <a:cxnLst/>
            <a:rect l="l" t="t" r="r" b="b"/>
            <a:pathLst>
              <a:path w="1670025" h="2141058">
                <a:moveTo>
                  <a:pt x="0" y="0"/>
                </a:moveTo>
                <a:lnTo>
                  <a:pt x="1670025" y="0"/>
                </a:lnTo>
                <a:lnTo>
                  <a:pt x="1670025" y="2141057"/>
                </a:lnTo>
                <a:lnTo>
                  <a:pt x="0" y="2141057"/>
                </a:lnTo>
                <a:lnTo>
                  <a:pt x="0" y="0"/>
                </a:lnTo>
                <a:close/>
              </a:path>
            </a:pathLst>
          </a:custGeom>
          <a:blipFill>
            <a:blip r:embed="rId3"/>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AAD7D4"/>
        </a:solidFill>
        <a:effectLst/>
      </p:bgPr>
    </p:bg>
    <p:spTree>
      <p:nvGrpSpPr>
        <p:cNvPr id="1" name=""/>
        <p:cNvGrpSpPr/>
        <p:nvPr/>
      </p:nvGrpSpPr>
      <p:grpSpPr>
        <a:xfrm>
          <a:off x="0" y="0"/>
          <a:ext cx="0" cy="0"/>
          <a:chOff x="0" y="0"/>
          <a:chExt cx="0" cy="0"/>
        </a:xfrm>
      </p:grpSpPr>
      <p:sp>
        <p:nvSpPr>
          <p:cNvPr id="2" name="TextBox 2"/>
          <p:cNvSpPr txBox="1"/>
          <p:nvPr/>
        </p:nvSpPr>
        <p:spPr>
          <a:xfrm>
            <a:off x="3182017" y="4063522"/>
            <a:ext cx="11923966" cy="1563044"/>
          </a:xfrm>
          <a:prstGeom prst="rect">
            <a:avLst/>
          </a:prstGeom>
        </p:spPr>
        <p:txBody>
          <a:bodyPr lIns="0" tIns="0" rIns="0" bIns="0" rtlCol="0" anchor="t">
            <a:spAutoFit/>
          </a:bodyPr>
          <a:lstStyle/>
          <a:p>
            <a:pPr algn="ctr">
              <a:lnSpc>
                <a:spcPts val="10460"/>
              </a:lnSpc>
            </a:pPr>
            <a:r>
              <a:rPr lang="en-US" sz="12023" b="1">
                <a:solidFill>
                  <a:srgbClr val="1C2120"/>
                </a:solidFill>
                <a:latin typeface="Poppins Bold"/>
                <a:ea typeface="Poppins Bold"/>
                <a:cs typeface="Poppins Bold"/>
                <a:sym typeface="Poppins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833</Words>
  <Application>Microsoft Office PowerPoint</Application>
  <PresentationFormat>Custom</PresentationFormat>
  <Paragraphs>139</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Open Sans Bold</vt:lpstr>
      <vt:lpstr>Poppins Bold</vt:lpstr>
      <vt:lpstr>Poppins</vt:lpstr>
      <vt:lpstr>TT Fors Bold</vt:lpstr>
      <vt:lpstr>TT Fors</vt:lpstr>
      <vt:lpstr>DM Sans</vt:lpstr>
      <vt:lpstr>Calibri</vt:lpstr>
      <vt:lpstr>Poppins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Minimalist Project Presentation</dc:title>
  <cp:lastModifiedBy>Lahari Sai</cp:lastModifiedBy>
  <cp:revision>1</cp:revision>
  <dcterms:created xsi:type="dcterms:W3CDTF">2006-08-16T00:00:00Z</dcterms:created>
  <dcterms:modified xsi:type="dcterms:W3CDTF">2025-11-23T16:15:38Z</dcterms:modified>
  <dc:identifier>DAG5CNyHpjY</dc:identifier>
</cp:coreProperties>
</file>